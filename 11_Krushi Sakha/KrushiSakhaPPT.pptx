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22"/>
  </p:notesMasterIdLst>
  <p:sldIdLst>
    <p:sldId id="271" r:id="rId2"/>
    <p:sldId id="257" r:id="rId3"/>
    <p:sldId id="258" r:id="rId4"/>
    <p:sldId id="273" r:id="rId5"/>
    <p:sldId id="274" r:id="rId6"/>
    <p:sldId id="275" r:id="rId7"/>
    <p:sldId id="276" r:id="rId8"/>
    <p:sldId id="261" r:id="rId9"/>
    <p:sldId id="262" r:id="rId10"/>
    <p:sldId id="278" r:id="rId11"/>
    <p:sldId id="280" r:id="rId12"/>
    <p:sldId id="263" r:id="rId13"/>
    <p:sldId id="264" r:id="rId14"/>
    <p:sldId id="269" r:id="rId15"/>
    <p:sldId id="265" r:id="rId16"/>
    <p:sldId id="266" r:id="rId17"/>
    <p:sldId id="281" r:id="rId18"/>
    <p:sldId id="267" r:id="rId19"/>
    <p:sldId id="282" r:id="rId20"/>
    <p:sldId id="283"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78"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771" autoAdjust="0"/>
  </p:normalViewPr>
  <p:slideViewPr>
    <p:cSldViewPr snapToGrid="0" showGuides="1">
      <p:cViewPr varScale="1">
        <p:scale>
          <a:sx n="78" d="100"/>
          <a:sy n="78" d="100"/>
        </p:scale>
        <p:origin x="1555" y="67"/>
      </p:cViewPr>
      <p:guideLst>
        <p:guide orient="horz" pos="217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pPr marL="0" marR="0" lvl="0" indent="0" algn="r" rtl="0">
                <a:spcBef>
                  <a:spcPts val="0"/>
                </a:spcBef>
                <a:spcAft>
                  <a:spcPts val="0"/>
                </a:spcAft>
                <a:buNone/>
              </a:p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cd5dd4a520_1_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3cd5dd4a520_1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alibri" panose="020F0502020204030204"/>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8683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8683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8683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solidFill>
            <a:schemeClr val="lt1"/>
          </a:solidFill>
          <a:ln w="25400" cap="flat" cmpd="sng">
            <a:solidFill>
              <a:schemeClr val="accent1"/>
            </a:solidFill>
            <a:prstDash val="solid"/>
            <a:round/>
            <a:headEnd type="none" w="sm" len="sm"/>
            <a:tailEnd type="none" w="sm" len="sm"/>
          </a:ln>
        </p:spPr>
      </p:sp>
      <p:sp>
        <p:nvSpPr>
          <p:cNvPr id="68" name="Google Shape;68;p10"/>
          <p:cNvSpPr txBox="1">
            <a:spLocks noGrp="1"/>
          </p:cNvSpPr>
          <p:nvPr>
            <p:ph type="body" idx="1"/>
          </p:nvPr>
        </p:nvSpPr>
        <p:spPr>
          <a:xfrm>
            <a:off x="1792288" y="5367338"/>
            <a:ext cx="5486400" cy="8048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8683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019300" y="-342900"/>
            <a:ext cx="5105400" cy="82296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8683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219200"/>
            <a:ext cx="8229600" cy="51054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3863185237"/>
              </p:ext>
            </p:extLst>
          </p:nvPr>
        </p:nvGraphicFramePr>
        <p:xfrm>
          <a:off x="228600" y="228600"/>
          <a:ext cx="8686800" cy="6459241"/>
        </p:xfrm>
        <a:graphic>
          <a:graphicData uri="http://schemas.openxmlformats.org/drawingml/2006/table">
            <a:tbl>
              <a:tblPr firstRow="1" bandRow="1">
                <a:tableStyleId>{5940675A-B579-460E-94D1-54222C63F5DA}</a:tableStyleId>
              </a:tblPr>
              <a:tblGrid>
                <a:gridCol w="2332566">
                  <a:extLst>
                    <a:ext uri="{9D8B030D-6E8A-4147-A177-3AD203B41FA5}">
                      <a16:colId xmlns:a16="http://schemas.microsoft.com/office/drawing/2014/main" val="20000"/>
                    </a:ext>
                  </a:extLst>
                </a:gridCol>
                <a:gridCol w="2925234">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1676400">
                <a:tc>
                  <a:txBody>
                    <a:bodyPr/>
                    <a:lstStyle/>
                    <a:p>
                      <a:pPr algn="ctr"/>
                      <a:endParaRPr lang="en-US" sz="2200" dirty="0">
                        <a:solidFill>
                          <a:schemeClr val="bg1"/>
                        </a:solidFill>
                      </a:endParaRPr>
                    </a:p>
                  </a:txBody>
                  <a:tcPr>
                    <a:solidFill>
                      <a:schemeClr val="accent5">
                        <a:lumMod val="60000"/>
                        <a:lumOff val="40000"/>
                      </a:schemeClr>
                    </a:solid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800" dirty="0">
                          <a:solidFill>
                            <a:schemeClr val="tx1"/>
                          </a:solidFill>
                          <a:latin typeface="Times New Roman" panose="02020603050405020304" pitchFamily="18" charset="0"/>
                          <a:cs typeface="Times New Roman" panose="02020603050405020304" pitchFamily="18" charset="0"/>
                        </a:rPr>
                        <a:t>S.S.V.P.S’s B. S. </a:t>
                      </a:r>
                      <a:r>
                        <a:rPr lang="en-US" sz="2800" baseline="0" dirty="0" err="1">
                          <a:solidFill>
                            <a:schemeClr val="tx1"/>
                          </a:solidFill>
                          <a:latin typeface="Times New Roman" panose="02020603050405020304" pitchFamily="18" charset="0"/>
                          <a:cs typeface="Times New Roman" panose="02020603050405020304" pitchFamily="18" charset="0"/>
                        </a:rPr>
                        <a:t>Deore</a:t>
                      </a:r>
                      <a:r>
                        <a:rPr lang="en-US" sz="2800" baseline="0" dirty="0">
                          <a:solidFill>
                            <a:schemeClr val="tx1"/>
                          </a:solidFill>
                          <a:latin typeface="Times New Roman" panose="02020603050405020304" pitchFamily="18" charset="0"/>
                          <a:cs typeface="Times New Roman" panose="02020603050405020304" pitchFamily="18" charset="0"/>
                        </a:rPr>
                        <a:t> Polytechnic, </a:t>
                      </a:r>
                      <a:r>
                        <a:rPr lang="en-US" sz="2800" baseline="0" dirty="0" err="1">
                          <a:solidFill>
                            <a:schemeClr val="tx1"/>
                          </a:solidFill>
                          <a:latin typeface="Times New Roman" panose="02020603050405020304" pitchFamily="18" charset="0"/>
                          <a:cs typeface="Times New Roman" panose="02020603050405020304" pitchFamily="18" charset="0"/>
                        </a:rPr>
                        <a:t>Dhule</a:t>
                      </a:r>
                      <a:endParaRPr lang="en-US" sz="28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sz="3000" b="1" dirty="0">
                          <a:solidFill>
                            <a:schemeClr val="tx1"/>
                          </a:solidFill>
                          <a:latin typeface="Times New Roman" panose="02020603050405020304" pitchFamily="18" charset="0"/>
                          <a:cs typeface="Times New Roman" panose="02020603050405020304" pitchFamily="18" charset="0"/>
                        </a:rPr>
                        <a:t>Department of Computer Engineering</a:t>
                      </a:r>
                    </a:p>
                    <a:p>
                      <a:pPr algn="ctr">
                        <a:lnSpc>
                          <a:spcPct val="100000"/>
                        </a:lnSpc>
                        <a:spcBef>
                          <a:spcPts val="0"/>
                        </a:spcBef>
                      </a:pPr>
                      <a:r>
                        <a:rPr lang="en-US" sz="2400" i="1" baseline="0" dirty="0">
                          <a:solidFill>
                            <a:schemeClr val="tx1"/>
                          </a:solidFill>
                          <a:latin typeface="Times New Roman" panose="02020603050405020304" pitchFamily="18" charset="0"/>
                          <a:cs typeface="Times New Roman" panose="02020603050405020304" pitchFamily="18" charset="0"/>
                        </a:rPr>
                        <a:t>Academic Year : 2025 – 2026</a:t>
                      </a:r>
                    </a:p>
                  </a:txBody>
                  <a:tcPr>
                    <a:solidFill>
                      <a:schemeClr val="accent5">
                        <a:lumMod val="60000"/>
                        <a:lumOff val="40000"/>
                      </a:schemeClr>
                    </a:solidFill>
                  </a:tcPr>
                </a:tc>
                <a:tc hMerge="1">
                  <a:txBody>
                    <a:bodyPr/>
                    <a:lstStyle/>
                    <a:p>
                      <a:endParaRPr lang="en-US"/>
                    </a:p>
                  </a:txBody>
                  <a:tcPr/>
                </a:tc>
                <a:extLst>
                  <a:ext uri="{0D108BD9-81ED-4DB2-BD59-A6C34878D82A}">
                    <a16:rowId xmlns:a16="http://schemas.microsoft.com/office/drawing/2014/main" val="10000"/>
                  </a:ext>
                </a:extLst>
              </a:tr>
              <a:tr h="625925">
                <a:tc gridSpan="3">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800" dirty="0">
                          <a:latin typeface="Times New Roman" panose="02020603050405020304" pitchFamily="18" charset="0"/>
                          <a:cs typeface="Times New Roman" panose="02020603050405020304" pitchFamily="18" charset="0"/>
                        </a:rPr>
                        <a:t>Presentation</a:t>
                      </a:r>
                      <a:r>
                        <a:rPr lang="en-US" sz="2800" baseline="0" dirty="0">
                          <a:latin typeface="Times New Roman" panose="02020603050405020304" pitchFamily="18" charset="0"/>
                          <a:cs typeface="Times New Roman" panose="02020603050405020304" pitchFamily="18" charset="0"/>
                        </a:rPr>
                        <a:t> o</a:t>
                      </a:r>
                      <a:r>
                        <a:rPr lang="en-US" sz="2800" dirty="0">
                          <a:latin typeface="Times New Roman" panose="02020603050405020304" pitchFamily="18" charset="0"/>
                          <a:cs typeface="Times New Roman" panose="02020603050405020304" pitchFamily="18" charset="0"/>
                        </a:rPr>
                        <a:t>n Capstone</a:t>
                      </a:r>
                      <a:r>
                        <a:rPr lang="en-US" sz="2800" baseline="0" dirty="0">
                          <a:latin typeface="Times New Roman" panose="02020603050405020304" pitchFamily="18" charset="0"/>
                          <a:cs typeface="Times New Roman" panose="02020603050405020304" pitchFamily="18" charset="0"/>
                        </a:rPr>
                        <a:t> Project Execution (CPE–316004)</a:t>
                      </a:r>
                      <a:endParaRPr lang="en-US" sz="2200" b="1" dirty="0">
                        <a:solidFill>
                          <a:srgbClr val="0000CC"/>
                        </a:solidFill>
                        <a:latin typeface="Times New Roman" panose="02020603050405020304" pitchFamily="18" charset="0"/>
                        <a:cs typeface="Times New Roman" panose="02020603050405020304" pitchFamily="18" charset="0"/>
                      </a:endParaRP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15468">
                <a:tc>
                  <a:txBody>
                    <a:bodyPr/>
                    <a:lstStyle/>
                    <a:p>
                      <a:r>
                        <a:rPr lang="en-US" sz="2200" b="1" dirty="0">
                          <a:latin typeface="Times New Roman" panose="02020603050405020304" pitchFamily="18" charset="0"/>
                          <a:cs typeface="Times New Roman" panose="02020603050405020304" pitchFamily="18" charset="0"/>
                        </a:rPr>
                        <a:t>Topic:</a:t>
                      </a:r>
                    </a:p>
                  </a:txBody>
                  <a:tcPr/>
                </a:tc>
                <a:tc gridSpan="2">
                  <a:txBody>
                    <a:bodyPr/>
                    <a:lstStyle/>
                    <a:p>
                      <a:pPr marL="0" marR="0" lvl="0" indent="0" algn="l" rtl="0">
                        <a:spcBef>
                          <a:spcPts val="0"/>
                        </a:spcBef>
                        <a:spcAft>
                          <a:spcPts val="0"/>
                        </a:spcAft>
                        <a:buNone/>
                      </a:pPr>
                      <a:r>
                        <a:rPr lang="en-US" sz="2200" dirty="0">
                          <a:solidFill>
                            <a:srgbClr val="FF0000"/>
                          </a:solidFill>
                          <a:latin typeface="Times New Roman" panose="02020603050405020304" pitchFamily="18" charset="0"/>
                          <a:cs typeface="Times New Roman" panose="02020603050405020304" pitchFamily="18" charset="0"/>
                          <a:sym typeface="+mn-ea"/>
                        </a:rPr>
                        <a:t>Krishi Sakha</a:t>
                      </a:r>
                      <a:endParaRPr lang="en-US" sz="2200" dirty="0">
                        <a:solidFill>
                          <a:srgbClr val="FF0000"/>
                        </a:solidFill>
                        <a:latin typeface="Times New Roman" panose="02020603050405020304" pitchFamily="18" charset="0"/>
                        <a:cs typeface="Times New Roman" panose="02020603050405020304" pitchFamily="18" charset="0"/>
                      </a:endParaRPr>
                    </a:p>
                  </a:txBody>
                  <a:tcPr/>
                </a:tc>
                <a:tc hMerge="1">
                  <a:txBody>
                    <a:bodyPr/>
                    <a:lstStyle/>
                    <a:p>
                      <a:endParaRPr lang="en-US"/>
                    </a:p>
                  </a:txBody>
                  <a:tcPr/>
                </a:tc>
                <a:extLst>
                  <a:ext uri="{0D108BD9-81ED-4DB2-BD59-A6C34878D82A}">
                    <a16:rowId xmlns:a16="http://schemas.microsoft.com/office/drawing/2014/main" val="10002"/>
                  </a:ext>
                </a:extLst>
              </a:tr>
              <a:tr h="515468">
                <a:tc rowSpan="4">
                  <a:txBody>
                    <a:bodyPr/>
                    <a:lstStyle/>
                    <a:p>
                      <a:r>
                        <a:rPr lang="en-US" sz="2200" b="1" dirty="0">
                          <a:latin typeface="Times New Roman" panose="02020603050405020304" pitchFamily="18" charset="0"/>
                          <a:cs typeface="Times New Roman" panose="02020603050405020304" pitchFamily="18" charset="0"/>
                        </a:rPr>
                        <a:t>Presented</a:t>
                      </a:r>
                      <a:r>
                        <a:rPr lang="en-US" sz="2200" b="1" baseline="0" dirty="0">
                          <a:latin typeface="Times New Roman" panose="02020603050405020304" pitchFamily="18" charset="0"/>
                          <a:cs typeface="Times New Roman" panose="02020603050405020304" pitchFamily="18" charset="0"/>
                        </a:rPr>
                        <a:t> by:</a:t>
                      </a:r>
                      <a:endParaRPr lang="en-US" sz="2200" b="1" dirty="0">
                        <a:latin typeface="Times New Roman" panose="02020603050405020304" pitchFamily="18" charset="0"/>
                        <a:cs typeface="Times New Roman" panose="02020603050405020304" pitchFamily="18" charset="0"/>
                      </a:endParaRPr>
                    </a:p>
                  </a:txBody>
                  <a:tcPr/>
                </a:tc>
                <a:tc gridSpan="2">
                  <a:txBody>
                    <a:bodyPr/>
                    <a:lstStyle/>
                    <a:p>
                      <a:r>
                        <a:rPr lang="en-US" sz="2200" dirty="0">
                          <a:latin typeface="Times New Roman" panose="02020603050405020304" pitchFamily="18" charset="0"/>
                          <a:cs typeface="Times New Roman" panose="02020603050405020304" pitchFamily="18" charset="0"/>
                          <a:sym typeface="+mn-ea"/>
                        </a:rPr>
                        <a:t>1. Gujar Jayesh Nagesh</a:t>
                      </a:r>
                      <a:endParaRPr lang="en-US" sz="2200" dirty="0">
                        <a:latin typeface="Times New Roman" panose="02020603050405020304" pitchFamily="18" charset="0"/>
                        <a:cs typeface="Times New Roman" panose="02020603050405020304" pitchFamily="18" charset="0"/>
                      </a:endParaRPr>
                    </a:p>
                  </a:txBody>
                  <a:tcPr/>
                </a:tc>
                <a:tc hMerge="1">
                  <a:txBody>
                    <a:bodyPr/>
                    <a:lstStyle/>
                    <a:p>
                      <a:endParaRPr lang="en-US"/>
                    </a:p>
                  </a:txBody>
                  <a:tcPr/>
                </a:tc>
                <a:extLst>
                  <a:ext uri="{0D108BD9-81ED-4DB2-BD59-A6C34878D82A}">
                    <a16:rowId xmlns:a16="http://schemas.microsoft.com/office/drawing/2014/main" val="10003"/>
                  </a:ext>
                </a:extLst>
              </a:tr>
              <a:tr h="515468">
                <a:tc vMerge="1">
                  <a:txBody>
                    <a:bodyPr/>
                    <a:lstStyle/>
                    <a:p>
                      <a:endParaRPr lang="en-US"/>
                    </a:p>
                  </a:txBody>
                  <a:tcPr/>
                </a:tc>
                <a:tc gridSpan="2">
                  <a:txBody>
                    <a:bodyPr/>
                    <a:lstStyle/>
                    <a:p>
                      <a:pPr marL="0" marR="0" lvl="0" indent="0" algn="l" rtl="0">
                        <a:spcBef>
                          <a:spcPts val="0"/>
                        </a:spcBef>
                        <a:spcAft>
                          <a:spcPts val="0"/>
                        </a:spcAft>
                        <a:buNone/>
                      </a:pPr>
                      <a:r>
                        <a:rPr lang="en-US" sz="2200" dirty="0">
                          <a:latin typeface="Times New Roman" panose="02020603050405020304" pitchFamily="18" charset="0"/>
                          <a:cs typeface="Times New Roman" panose="02020603050405020304" pitchFamily="18" charset="0"/>
                          <a:sym typeface="+mn-ea"/>
                        </a:rPr>
                        <a:t>2. Kor Darshan </a:t>
                      </a:r>
                      <a:r>
                        <a:rPr lang="en-US" sz="2200" dirty="0" err="1">
                          <a:latin typeface="Times New Roman" panose="02020603050405020304" pitchFamily="18" charset="0"/>
                          <a:cs typeface="Times New Roman" panose="02020603050405020304" pitchFamily="18" charset="0"/>
                          <a:sym typeface="+mn-ea"/>
                        </a:rPr>
                        <a:t>Pruthviraj</a:t>
                      </a:r>
                      <a:endParaRPr lang="en-US" sz="2200" dirty="0">
                        <a:latin typeface="Times New Roman" panose="02020603050405020304" pitchFamily="18" charset="0"/>
                        <a:cs typeface="Times New Roman" panose="02020603050405020304" pitchFamily="18" charset="0"/>
                      </a:endParaRPr>
                    </a:p>
                  </a:txBody>
                  <a:tcPr/>
                </a:tc>
                <a:tc hMerge="1">
                  <a:txBody>
                    <a:bodyPr/>
                    <a:lstStyle/>
                    <a:p>
                      <a:endParaRPr lang="en-US"/>
                    </a:p>
                  </a:txBody>
                  <a:tcPr/>
                </a:tc>
                <a:extLst>
                  <a:ext uri="{0D108BD9-81ED-4DB2-BD59-A6C34878D82A}">
                    <a16:rowId xmlns:a16="http://schemas.microsoft.com/office/drawing/2014/main" val="10004"/>
                  </a:ext>
                </a:extLst>
              </a:tr>
              <a:tr h="515468">
                <a:tc vMerge="1">
                  <a:txBody>
                    <a:bodyPr/>
                    <a:lstStyle/>
                    <a:p>
                      <a:endParaRPr lang="en-US"/>
                    </a:p>
                  </a:txBody>
                  <a:tcPr/>
                </a:tc>
                <a:tc gridSpan="2">
                  <a:txBody>
                    <a:bodyPr/>
                    <a:lstStyle/>
                    <a:p>
                      <a:pPr marL="0" marR="0" lvl="0" indent="0" algn="l" rtl="0">
                        <a:spcBef>
                          <a:spcPts val="0"/>
                        </a:spcBef>
                        <a:spcAft>
                          <a:spcPts val="0"/>
                        </a:spcAft>
                        <a:buNone/>
                      </a:pPr>
                      <a:r>
                        <a:rPr lang="en-US" sz="2200" dirty="0">
                          <a:latin typeface="Times New Roman" panose="02020603050405020304" pitchFamily="18" charset="0"/>
                          <a:cs typeface="Times New Roman" panose="02020603050405020304" pitchFamily="18" charset="0"/>
                          <a:sym typeface="+mn-ea"/>
                        </a:rPr>
                        <a:t>3. Puranik Amay Tushar</a:t>
                      </a:r>
                    </a:p>
                  </a:txBody>
                  <a:tcPr/>
                </a:tc>
                <a:tc hMerge="1">
                  <a:txBody>
                    <a:bodyPr/>
                    <a:lstStyle/>
                    <a:p>
                      <a:endParaRPr lang="en-US"/>
                    </a:p>
                  </a:txBody>
                  <a:tcPr/>
                </a:tc>
                <a:extLst>
                  <a:ext uri="{0D108BD9-81ED-4DB2-BD59-A6C34878D82A}">
                    <a16:rowId xmlns:a16="http://schemas.microsoft.com/office/drawing/2014/main" val="10005"/>
                  </a:ext>
                </a:extLst>
              </a:tr>
              <a:tr h="515468">
                <a:tc vMerge="1">
                  <a:txBody>
                    <a:bodyPr/>
                    <a:lstStyle/>
                    <a:p>
                      <a:endParaRPr lang="en-US"/>
                    </a:p>
                  </a:txBody>
                  <a:tcPr/>
                </a:tc>
                <a:tc gridSpan="2">
                  <a:txBody>
                    <a:bodyPr/>
                    <a:lstStyle/>
                    <a:p>
                      <a:r>
                        <a:rPr lang="en-US" sz="2200" dirty="0">
                          <a:latin typeface="Times New Roman" panose="02020603050405020304" pitchFamily="18" charset="0"/>
                          <a:cs typeface="Times New Roman" panose="02020603050405020304" pitchFamily="18" charset="0"/>
                        </a:rPr>
                        <a:t>4. Patil </a:t>
                      </a:r>
                      <a:r>
                        <a:rPr lang="en-US" sz="2200">
                          <a:latin typeface="Times New Roman" panose="02020603050405020304" pitchFamily="18" charset="0"/>
                          <a:cs typeface="Times New Roman" panose="02020603050405020304" pitchFamily="18" charset="0"/>
                        </a:rPr>
                        <a:t>Krish Chandrashekhar</a:t>
                      </a:r>
                      <a:endParaRPr lang="en-US" sz="2200" dirty="0">
                        <a:latin typeface="Times New Roman" panose="02020603050405020304" pitchFamily="18" charset="0"/>
                        <a:cs typeface="Times New Roman" panose="02020603050405020304" pitchFamily="18" charset="0"/>
                      </a:endParaRPr>
                    </a:p>
                  </a:txBody>
                  <a:tcPr/>
                </a:tc>
                <a:tc hMerge="1">
                  <a:txBody>
                    <a:bodyPr/>
                    <a:lstStyle/>
                    <a:p>
                      <a:endParaRPr lang="en-US"/>
                    </a:p>
                  </a:txBody>
                  <a:tcPr/>
                </a:tc>
                <a:extLst>
                  <a:ext uri="{0D108BD9-81ED-4DB2-BD59-A6C34878D82A}">
                    <a16:rowId xmlns:a16="http://schemas.microsoft.com/office/drawing/2014/main" val="10006"/>
                  </a:ext>
                </a:extLst>
              </a:tr>
              <a:tr h="515468">
                <a:tc>
                  <a:txBody>
                    <a:bodyPr/>
                    <a:lstStyle/>
                    <a:p>
                      <a:r>
                        <a:rPr lang="en-US" sz="2200" b="1" dirty="0">
                          <a:latin typeface="Times New Roman" panose="02020603050405020304" pitchFamily="18" charset="0"/>
                          <a:cs typeface="Times New Roman" panose="02020603050405020304" pitchFamily="18" charset="0"/>
                        </a:rPr>
                        <a:t>Guided by</a:t>
                      </a:r>
                      <a:r>
                        <a:rPr lang="en-US" sz="2200" b="1" baseline="0"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a:txBody>
                  <a:tcPr/>
                </a:tc>
                <a:tc gridSpan="2">
                  <a:txBody>
                    <a:bodyPr/>
                    <a:lstStyle/>
                    <a:p>
                      <a:pPr marL="0" marR="0" lvl="0" indent="0" algn="l" rtl="0">
                        <a:spcBef>
                          <a:spcPts val="0"/>
                        </a:spcBef>
                        <a:spcAft>
                          <a:spcPts val="0"/>
                        </a:spcAft>
                        <a:buNone/>
                      </a:pPr>
                      <a:r>
                        <a:rPr lang="en-US" sz="2200" dirty="0">
                          <a:latin typeface="Times New Roman" panose="02020603050405020304" pitchFamily="18" charset="0"/>
                          <a:cs typeface="Times New Roman" panose="02020603050405020304" pitchFamily="18" charset="0"/>
                          <a:sym typeface="+mn-ea"/>
                        </a:rPr>
                        <a:t>Ms. R. S. Patil</a:t>
                      </a:r>
                    </a:p>
                  </a:txBody>
                  <a:tcPr/>
                </a:tc>
                <a:tc hMerge="1">
                  <a:txBody>
                    <a:bodyPr/>
                    <a:lstStyle/>
                    <a:p>
                      <a:endParaRPr lang="en-US"/>
                    </a:p>
                  </a:txBody>
                  <a:tcPr/>
                </a:tc>
                <a:extLst>
                  <a:ext uri="{0D108BD9-81ED-4DB2-BD59-A6C34878D82A}">
                    <a16:rowId xmlns:a16="http://schemas.microsoft.com/office/drawing/2014/main" val="10007"/>
                  </a:ext>
                </a:extLst>
              </a:tr>
              <a:tr h="515468">
                <a:tc>
                  <a:txBody>
                    <a:bodyPr/>
                    <a:lstStyle/>
                    <a:p>
                      <a:r>
                        <a:rPr lang="en-US" sz="2200" b="1" dirty="0">
                          <a:latin typeface="Times New Roman" panose="02020603050405020304" pitchFamily="18" charset="0"/>
                          <a:cs typeface="Times New Roman" panose="02020603050405020304" pitchFamily="18" charset="0"/>
                        </a:rPr>
                        <a:t>Semester:</a:t>
                      </a:r>
                    </a:p>
                  </a:txBody>
                  <a:tcPr/>
                </a:tc>
                <a:tc>
                  <a:txBody>
                    <a:bodyPr/>
                    <a:lstStyle/>
                    <a:p>
                      <a:r>
                        <a:rPr lang="en-US" sz="2200" b="1" dirty="0">
                          <a:latin typeface="Times New Roman" panose="02020603050405020304" pitchFamily="18" charset="0"/>
                          <a:cs typeface="Times New Roman" panose="02020603050405020304" pitchFamily="18" charset="0"/>
                        </a:rPr>
                        <a:t>Sixth</a:t>
                      </a:r>
                      <a:r>
                        <a:rPr lang="en-US" sz="2200" b="1" baseline="0" dirty="0">
                          <a:latin typeface="Times New Roman" panose="02020603050405020304" pitchFamily="18" charset="0"/>
                          <a:cs typeface="Times New Roman" panose="02020603050405020304" pitchFamily="18" charset="0"/>
                        </a:rPr>
                        <a:t> (K Scheme)</a:t>
                      </a:r>
                      <a:endParaRPr lang="en-US" sz="2200" b="1" dirty="0">
                        <a:latin typeface="Times New Roman" panose="02020603050405020304" pitchFamily="18" charset="0"/>
                        <a:cs typeface="Times New Roman" panose="02020603050405020304" pitchFamily="18" charset="0"/>
                      </a:endParaRPr>
                    </a:p>
                  </a:txBody>
                  <a:tcPr/>
                </a:tc>
                <a:tc>
                  <a:txBody>
                    <a:bodyPr/>
                    <a:lstStyle/>
                    <a:p>
                      <a:pPr marL="0" marR="0" lvl="0" indent="0" algn="l" rtl="0">
                        <a:spcBef>
                          <a:spcPts val="0"/>
                        </a:spcBef>
                        <a:spcAft>
                          <a:spcPts val="0"/>
                        </a:spcAft>
                        <a:buNone/>
                      </a:pPr>
                      <a:r>
                        <a:rPr lang="en-US" sz="2200" b="1" dirty="0">
                          <a:latin typeface="Times New Roman" panose="02020603050405020304" pitchFamily="18" charset="0"/>
                          <a:cs typeface="Times New Roman" panose="02020603050405020304" pitchFamily="18" charset="0"/>
                          <a:sym typeface="+mn-ea"/>
                        </a:rPr>
                        <a:t>Date  : 06/03/2026</a:t>
                      </a:r>
                    </a:p>
                  </a:txBody>
                  <a:tcPr/>
                </a:tc>
                <a:extLst>
                  <a:ext uri="{0D108BD9-81ED-4DB2-BD59-A6C34878D82A}">
                    <a16:rowId xmlns:a16="http://schemas.microsoft.com/office/drawing/2014/main" val="10008"/>
                  </a:ext>
                </a:extLst>
              </a:tr>
            </a:tbl>
          </a:graphicData>
        </a:graphic>
      </p:graphicFrame>
      <p:pic>
        <p:nvPicPr>
          <p:cNvPr id="16" name="Picture 15" descr="ssvpslogo.png"/>
          <p:cNvPicPr>
            <a:picLocks noChangeAspect="1"/>
          </p:cNvPicPr>
          <p:nvPr/>
        </p:nvPicPr>
        <p:blipFill>
          <a:blip r:embed="rId2"/>
          <a:stretch>
            <a:fillRect/>
          </a:stretch>
        </p:blipFill>
        <p:spPr>
          <a:xfrm>
            <a:off x="609600" y="304800"/>
            <a:ext cx="1143000" cy="1503947"/>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dirty="0">
                <a:latin typeface="Times New Roman" panose="02020603050405020304"/>
                <a:ea typeface="Times New Roman" panose="02020603050405020304"/>
                <a:cs typeface="Times New Roman" panose="02020603050405020304"/>
                <a:sym typeface="Times New Roman" panose="02020603050405020304"/>
              </a:rPr>
              <a:t>Abstract</a:t>
            </a:r>
            <a:endParaRPr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14"/>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3200"/>
              <a:buNone/>
            </a:pPr>
            <a:r>
              <a:rPr lang="en-US" sz="2000" dirty="0">
                <a:latin typeface="Times New Roman" panose="02020603050405020304"/>
                <a:ea typeface="Times New Roman" panose="02020603050405020304"/>
                <a:cs typeface="Times New Roman" panose="02020603050405020304"/>
                <a:sym typeface="Times New Roman" panose="02020603050405020304"/>
              </a:rPr>
              <a:t>Krushi Sakha is an Android application that provides season-wise crop information (like: Pre-sowing, Sowing management, Nutrient &amp; Water schedule, Crop protection, Storage, </a:t>
            </a:r>
            <a:r>
              <a:rPr lang="en-US" sz="2000" dirty="0" err="1">
                <a:latin typeface="Times New Roman" panose="02020603050405020304"/>
                <a:ea typeface="Times New Roman" panose="02020603050405020304"/>
                <a:cs typeface="Times New Roman" panose="02020603050405020304"/>
                <a:sym typeface="Times New Roman" panose="02020603050405020304"/>
              </a:rPr>
              <a:t>etc</a:t>
            </a:r>
            <a:r>
              <a:rPr lang="en-US" sz="2000" dirty="0">
                <a:latin typeface="Times New Roman" panose="02020603050405020304"/>
                <a:ea typeface="Times New Roman" panose="02020603050405020304"/>
                <a:cs typeface="Times New Roman" panose="02020603050405020304"/>
                <a:sym typeface="Times New Roman" panose="02020603050405020304"/>
              </a:rPr>
              <a:t> ) to farmers. Built with Java and Firebase, it features role-based access - Users can browse crops while Admins can Add/Edit/Delete crop data with images. The app offers an intuitive Material Design UI, real-time database synchronization, and offline support, serving as a digital assistant for the farming community.</a:t>
            </a:r>
            <a:endParaRPr sz="2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96" name="Google Shape;9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97" name="Google Shape;9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98" name="Google Shape;9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457200" y="152400"/>
            <a:ext cx="8229600" cy="762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Content</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4" name="Google Shape;104;p15"/>
          <p:cNvSpPr txBox="1">
            <a:spLocks noGrp="1"/>
          </p:cNvSpPr>
          <p:nvPr>
            <p:ph type="body" idx="1"/>
          </p:nvPr>
        </p:nvSpPr>
        <p:spPr>
          <a:xfrm>
            <a:off x="457200" y="990600"/>
            <a:ext cx="8229600" cy="5410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0" indent="0">
              <a:lnSpc>
                <a:spcPct val="150000"/>
              </a:lnSpc>
              <a:buNone/>
            </a:pPr>
            <a:r>
              <a:rPr lang="en-US" sz="2600" dirty="0">
                <a:latin typeface="Times New Roman" panose="02020603050405020304" pitchFamily="18" charset="0"/>
                <a:cs typeface="Times New Roman" panose="02020603050405020304" pitchFamily="18" charset="0"/>
                <a:sym typeface="+mn-ea"/>
              </a:rPr>
              <a:t>1. Introduction  </a:t>
            </a:r>
            <a:endParaRPr lang="en-US" sz="2600" dirty="0">
              <a:latin typeface="Times New Roman" panose="02020603050405020304" pitchFamily="18" charset="0"/>
              <a:cs typeface="Times New Roman" panose="02020603050405020304" pitchFamily="18" charset="0"/>
            </a:endParaRPr>
          </a:p>
          <a:p>
            <a:pPr marL="0" indent="0">
              <a:lnSpc>
                <a:spcPct val="150000"/>
              </a:lnSpc>
              <a:buNone/>
            </a:pPr>
            <a:r>
              <a:rPr lang="en-US" sz="2600" dirty="0">
                <a:latin typeface="Times New Roman" panose="02020603050405020304" pitchFamily="18" charset="0"/>
                <a:cs typeface="Times New Roman" panose="02020603050405020304" pitchFamily="18" charset="0"/>
                <a:sym typeface="+mn-ea"/>
              </a:rPr>
              <a:t>2. Literature Survey </a:t>
            </a:r>
            <a:endParaRPr lang="en-US" sz="2600" dirty="0">
              <a:latin typeface="Times New Roman" panose="02020603050405020304" pitchFamily="18" charset="0"/>
              <a:cs typeface="Times New Roman" panose="02020603050405020304" pitchFamily="18" charset="0"/>
            </a:endParaRPr>
          </a:p>
          <a:p>
            <a:pPr marL="0" indent="0">
              <a:lnSpc>
                <a:spcPct val="150000"/>
              </a:lnSpc>
              <a:buNone/>
            </a:pPr>
            <a:r>
              <a:rPr lang="en-US" sz="2600" dirty="0">
                <a:latin typeface="Times New Roman" panose="02020603050405020304" pitchFamily="18" charset="0"/>
                <a:cs typeface="Times New Roman" panose="02020603050405020304" pitchFamily="18" charset="0"/>
                <a:sym typeface="+mn-ea"/>
              </a:rPr>
              <a:t>3. Scope of the project </a:t>
            </a:r>
            <a:endParaRPr lang="en-US" sz="2600" dirty="0">
              <a:latin typeface="Times New Roman" panose="02020603050405020304" pitchFamily="18" charset="0"/>
              <a:cs typeface="Times New Roman" panose="02020603050405020304" pitchFamily="18" charset="0"/>
            </a:endParaRPr>
          </a:p>
          <a:p>
            <a:pPr marL="0" indent="0">
              <a:lnSpc>
                <a:spcPct val="150000"/>
              </a:lnSpc>
              <a:buNone/>
            </a:pPr>
            <a:r>
              <a:rPr lang="en-US" sz="2600" dirty="0">
                <a:latin typeface="Times New Roman" panose="02020603050405020304" pitchFamily="18" charset="0"/>
                <a:cs typeface="Times New Roman" panose="02020603050405020304" pitchFamily="18" charset="0"/>
                <a:sym typeface="+mn-ea"/>
              </a:rPr>
              <a:t>4. Methodology </a:t>
            </a:r>
            <a:endParaRPr lang="en-US" sz="2600" dirty="0">
              <a:latin typeface="Times New Roman" panose="02020603050405020304" pitchFamily="18" charset="0"/>
              <a:cs typeface="Times New Roman" panose="02020603050405020304" pitchFamily="18" charset="0"/>
            </a:endParaRPr>
          </a:p>
          <a:p>
            <a:pPr marL="0" indent="0">
              <a:lnSpc>
                <a:spcPct val="150000"/>
              </a:lnSpc>
              <a:buNone/>
            </a:pPr>
            <a:r>
              <a:rPr lang="en-US" sz="2600" dirty="0">
                <a:latin typeface="Times New Roman" panose="02020603050405020304" pitchFamily="18" charset="0"/>
                <a:cs typeface="Times New Roman" panose="02020603050405020304" pitchFamily="18" charset="0"/>
                <a:sym typeface="+mn-ea"/>
              </a:rPr>
              <a:t>5. Details of designs, working and processes.</a:t>
            </a:r>
            <a:endParaRPr lang="en-US" sz="2600" dirty="0">
              <a:latin typeface="Times New Roman" panose="02020603050405020304" pitchFamily="18" charset="0"/>
              <a:cs typeface="Times New Roman" panose="02020603050405020304" pitchFamily="18" charset="0"/>
            </a:endParaRPr>
          </a:p>
          <a:p>
            <a:pPr marL="0" indent="0">
              <a:lnSpc>
                <a:spcPct val="150000"/>
              </a:lnSpc>
              <a:buNone/>
            </a:pPr>
            <a:r>
              <a:rPr lang="en-US" sz="2600" dirty="0">
                <a:latin typeface="Times New Roman" panose="02020603050405020304" pitchFamily="18" charset="0"/>
                <a:cs typeface="Times New Roman" panose="02020603050405020304" pitchFamily="18" charset="0"/>
                <a:sym typeface="+mn-ea"/>
              </a:rPr>
              <a:t>6. Results and applications</a:t>
            </a:r>
            <a:endParaRPr lang="en-US" sz="2600" dirty="0">
              <a:latin typeface="Times New Roman" panose="02020603050405020304" pitchFamily="18" charset="0"/>
              <a:cs typeface="Times New Roman" panose="02020603050405020304" pitchFamily="18" charset="0"/>
            </a:endParaRPr>
          </a:p>
          <a:p>
            <a:pPr marL="0" indent="0">
              <a:lnSpc>
                <a:spcPct val="150000"/>
              </a:lnSpc>
              <a:buNone/>
            </a:pPr>
            <a:r>
              <a:rPr lang="en-US" sz="2600" dirty="0">
                <a:latin typeface="Times New Roman" panose="02020603050405020304" pitchFamily="18" charset="0"/>
                <a:cs typeface="Times New Roman" panose="02020603050405020304" pitchFamily="18" charset="0"/>
                <a:sym typeface="+mn-ea"/>
              </a:rPr>
              <a:t>7. Conclusion and future scope</a:t>
            </a:r>
            <a:endParaRPr lang="en-US" sz="2600" dirty="0">
              <a:latin typeface="Times New Roman" panose="02020603050405020304" pitchFamily="18" charset="0"/>
              <a:cs typeface="Times New Roman" panose="02020603050405020304" pitchFamily="18" charset="0"/>
            </a:endParaRPr>
          </a:p>
          <a:p>
            <a:pPr marL="0" indent="0">
              <a:lnSpc>
                <a:spcPct val="150000"/>
              </a:lnSpc>
              <a:buNone/>
            </a:pPr>
            <a:r>
              <a:rPr lang="en-US" sz="2600" dirty="0">
                <a:latin typeface="Times New Roman" panose="02020603050405020304" pitchFamily="18" charset="0"/>
                <a:cs typeface="Times New Roman" panose="02020603050405020304" pitchFamily="18" charset="0"/>
                <a:sym typeface="+mn-ea"/>
              </a:rPr>
              <a:t>8. References and Bibliography</a:t>
            </a:r>
            <a:endParaRPr lang="en-US" sz="2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ct val="100000"/>
              <a:buFont typeface="Times New Roman" panose="02020603050405020304"/>
              <a:buNone/>
            </a:pPr>
            <a:endParaRPr sz="26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05" name="Google Shape;105;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Times New Roman" panose="02020603050405020304"/>
                <a:ea typeface="Times New Roman" panose="02020603050405020304"/>
                <a:cs typeface="Times New Roman" panose="02020603050405020304"/>
                <a:sym typeface="Times New Roman" panose="02020603050405020304"/>
              </a:rPr>
              <a:t>3/3/2026</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6" name="Google Shape;10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panose="02020603050405020304"/>
                <a:ea typeface="Times New Roman" panose="02020603050405020304"/>
                <a:cs typeface="Times New Roman" panose="02020603050405020304"/>
                <a:sym typeface="Times New Roman" panose="02020603050405020304"/>
              </a:rPr>
              <a:pPr marL="0" lvl="0" indent="0" algn="r" rtl="0">
                <a:spcBef>
                  <a:spcPts val="0"/>
                </a:spcBef>
                <a:spcAft>
                  <a:spcPts val="0"/>
                </a:spcAft>
                <a:buNone/>
              </a:pPr>
              <a:t>3</a:t>
            </a:fld>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7" name="Google Shape;10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panose="02020603050405020304"/>
                <a:ea typeface="Times New Roman" panose="02020603050405020304"/>
                <a:cs typeface="Times New Roman" panose="02020603050405020304"/>
                <a:sym typeface="Times New Roman" panose="02020603050405020304"/>
              </a:rPr>
              <a:t>CPE – 22060 Presentation</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12;p16"/>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1. Introduction</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6" name="Google Shape;113;p16"/>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546100" algn="just">
              <a:lnSpc>
                <a:spcPct val="150000"/>
              </a:lnSpc>
              <a:spcBef>
                <a:spcPts val="0"/>
              </a:spcBef>
              <a:buSzPct val="100000"/>
              <a:buFont typeface="Arial" pitchFamily="34" charset="0"/>
              <a:buChar char="•"/>
            </a:pPr>
            <a:r>
              <a:rPr lang="en-US" altLang="en-US" sz="2000" dirty="0">
                <a:latin typeface="Times New Roman" panose="02020603050405020304"/>
                <a:ea typeface="Times New Roman" panose="02020603050405020304"/>
                <a:cs typeface="Times New Roman" panose="02020603050405020304"/>
                <a:sym typeface="Times New Roman" panose="02020603050405020304"/>
              </a:rPr>
              <a:t>Agriculture is the backbone of the Indian economy, yet rural farmers lack </a:t>
            </a: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access to scientific, stage-wise cultivation guidance.  </a:t>
            </a:r>
          </a:p>
          <a:p>
            <a:pPr marL="546100" algn="just">
              <a:lnSpc>
                <a:spcPct val="150000"/>
              </a:lnSpc>
              <a:spcBef>
                <a:spcPts val="0"/>
              </a:spcBef>
              <a:buSzPct val="100000"/>
              <a:buFont typeface="Arial" pitchFamily="34" charset="0"/>
              <a:buChar char="•"/>
            </a:pPr>
            <a:r>
              <a:rPr lang="en-US" alt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The Necessity:</a:t>
            </a: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Traditional methods are often inaccurate for modern soil conditions, leading to poor yields and financial loss.  </a:t>
            </a:r>
          </a:p>
          <a:p>
            <a:pPr marL="546100" algn="just">
              <a:lnSpc>
                <a:spcPct val="150000"/>
              </a:lnSpc>
              <a:spcBef>
                <a:spcPts val="0"/>
              </a:spcBef>
              <a:buSzPct val="100000"/>
              <a:buFont typeface="Arial" pitchFamily="34" charset="0"/>
              <a:buChar char="•"/>
            </a:pPr>
            <a:r>
              <a:rPr lang="en-US" alt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The Solution:</a:t>
            </a: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Krushi Sakha provides a scientific roadmap through a structured 5-pillar architecture: Pre-Sowing, Sowing, Nutrients, Protection, and Storage.  </a:t>
            </a:r>
          </a:p>
          <a:p>
            <a:pPr marL="546100" algn="just">
              <a:lnSpc>
                <a:spcPct val="150000"/>
              </a:lnSpc>
              <a:spcBef>
                <a:spcPts val="0"/>
              </a:spcBef>
              <a:buSzPct val="100000"/>
              <a:buFont typeface="Arial" pitchFamily="34" charset="0"/>
              <a:buChar char="•"/>
            </a:pPr>
            <a:r>
              <a:rPr lang="en-US" alt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User Accessibility:</a:t>
            </a: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The app features a dedicated Login and Registration system to provide secure, personalized access for every farmer.</a:t>
            </a:r>
          </a:p>
        </p:txBody>
      </p:sp>
      <p:sp>
        <p:nvSpPr>
          <p:cNvPr id="7" name="Google Shape;114;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Times New Roman" panose="02020603050405020304"/>
                <a:ea typeface="Times New Roman" panose="02020603050405020304"/>
                <a:cs typeface="Times New Roman" panose="02020603050405020304"/>
                <a:sym typeface="Times New Roman" panose="02020603050405020304"/>
              </a:rPr>
              <a:t>3/3/2026</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115;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panose="02020603050405020304"/>
                <a:ea typeface="Times New Roman" panose="02020603050405020304"/>
                <a:cs typeface="Times New Roman" panose="02020603050405020304"/>
                <a:sym typeface="Times New Roman" panose="02020603050405020304"/>
              </a:rPr>
              <a:t>CPE – 22060 Presentation</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9" name="Google Shape;116;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panose="02020603050405020304"/>
                <a:ea typeface="Times New Roman" panose="02020603050405020304"/>
                <a:cs typeface="Times New Roman" panose="02020603050405020304"/>
                <a:sym typeface="Times New Roman" panose="02020603050405020304"/>
              </a:rPr>
              <a:pPr marL="0" lvl="0" indent="0" algn="r" rtl="0">
                <a:spcBef>
                  <a:spcPts val="0"/>
                </a:spcBef>
                <a:spcAft>
                  <a:spcPts val="0"/>
                </a:spcAft>
                <a:buNone/>
              </a:pPr>
              <a:t>4</a:t>
            </a:fld>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a:t>
            </a:fld>
            <a:endParaRPr lang="en-US"/>
          </a:p>
        </p:txBody>
      </p:sp>
      <p:sp>
        <p:nvSpPr>
          <p:cNvPr id="121" name="Google Shape;121;p17"/>
          <p:cNvSpPr txBox="1">
            <a:spLocks noGrp="1"/>
          </p:cNvSpPr>
          <p:nvPr>
            <p:ph type="title"/>
          </p:nvPr>
        </p:nvSpPr>
        <p:spPr>
          <a:xfrm>
            <a:off x="457200" y="274638"/>
            <a:ext cx="8229600" cy="62097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2. Literature Review</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22" name="Google Shape;122;p17"/>
          <p:cNvSpPr txBox="1">
            <a:spLocks noGrp="1"/>
          </p:cNvSpPr>
          <p:nvPr>
            <p:ph type="body" idx="1"/>
          </p:nvPr>
        </p:nvSpPr>
        <p:spPr>
          <a:xfrm>
            <a:off x="457200" y="102235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lvl="0" indent="0" algn="just" rtl="0">
              <a:lnSpc>
                <a:spcPct val="150000"/>
              </a:lnSpc>
              <a:spcBef>
                <a:spcPts val="0"/>
              </a:spcBef>
              <a:spcAft>
                <a:spcPts val="0"/>
              </a:spcAft>
              <a:buClr>
                <a:schemeClr val="dk1"/>
              </a:buClr>
              <a:buSzPts val="3200"/>
              <a:buNone/>
            </a:pPr>
            <a:r>
              <a:rPr lang="en-IN" altLang="en-US" sz="2000" b="1" dirty="0">
                <a:latin typeface="Times New Roman" panose="02020603050405020304"/>
                <a:ea typeface="Times New Roman" panose="02020603050405020304"/>
                <a:cs typeface="Times New Roman" panose="02020603050405020304"/>
                <a:sym typeface="Times New Roman" panose="02020603050405020304"/>
              </a:rPr>
              <a:t>2</a:t>
            </a:r>
            <a:r>
              <a:rPr lang="en-US" altLang="en-US" sz="2000" b="1" dirty="0">
                <a:latin typeface="Times New Roman" panose="02020603050405020304"/>
                <a:ea typeface="Times New Roman" panose="02020603050405020304"/>
                <a:cs typeface="Times New Roman" panose="02020603050405020304"/>
                <a:sym typeface="Times New Roman" panose="02020603050405020304"/>
              </a:rPr>
              <a:t>.1 Study of Existing Systems</a:t>
            </a:r>
          </a:p>
          <a:p>
            <a:pPr marL="546100" algn="just">
              <a:lnSpc>
                <a:spcPct val="150000"/>
              </a:lnSpc>
              <a:spcBef>
                <a:spcPts val="0"/>
              </a:spcBef>
              <a:buSzPct val="100000"/>
              <a:buFont typeface="Arial" pitchFamily="34" charset="0"/>
              <a:buChar char="•"/>
            </a:pPr>
            <a:r>
              <a:rPr lang="en-US" altLang="en-US" sz="2000" dirty="0">
                <a:latin typeface="Times New Roman" panose="02020603050405020304"/>
                <a:ea typeface="Times New Roman" panose="02020603050405020304"/>
                <a:cs typeface="Times New Roman" panose="02020603050405020304"/>
                <a:sym typeface="Times New Roman" panose="02020603050405020304"/>
              </a:rPr>
              <a:t>Our team reviewed existing agricultural apps and found that while most require registration, they often lack offline support.  </a:t>
            </a:r>
          </a:p>
          <a:p>
            <a:pPr marL="546100" algn="just">
              <a:lnSpc>
                <a:spcPct val="150000"/>
              </a:lnSpc>
              <a:spcBef>
                <a:spcPts val="0"/>
              </a:spcBef>
              <a:buSzPct val="100000"/>
              <a:buFont typeface="Arial" pitchFamily="34" charset="0"/>
              <a:buChar char="•"/>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Secure Access: </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Like leading systems, Krushi Sakha implements an Authentication Module to ensure secure access control for user data.  </a:t>
            </a:r>
          </a:p>
          <a:p>
            <a:pPr marL="546100" algn="just">
              <a:lnSpc>
                <a:spcPct val="150000"/>
              </a:lnSpc>
              <a:spcBef>
                <a:spcPts val="0"/>
              </a:spcBef>
              <a:buSzPct val="100000"/>
              <a:buFont typeface="Arial" pitchFamily="34" charset="0"/>
              <a:buChar char="•"/>
            </a:pPr>
            <a:r>
              <a:rPr lang="en-US" altLang="en-US" sz="2000" dirty="0">
                <a:latin typeface="Times New Roman" panose="02020603050405020304"/>
                <a:ea typeface="Times New Roman" panose="02020603050405020304"/>
                <a:cs typeface="Times New Roman" panose="02020603050405020304"/>
                <a:sym typeface="Times New Roman" panose="02020603050405020304"/>
              </a:rPr>
              <a:t>The Gap: Existing apps do not integrate a complete, stage-by-stage guide from pre-sowing to post-harvest storage in one place.  </a:t>
            </a:r>
          </a:p>
          <a:p>
            <a:pPr marL="546100" algn="just">
              <a:lnSpc>
                <a:spcPct val="150000"/>
              </a:lnSpc>
              <a:spcBef>
                <a:spcPts val="0"/>
              </a:spcBef>
              <a:buSzPct val="100000"/>
              <a:buFont typeface="Arial" pitchFamily="34" charset="0"/>
              <a:buChar char="•"/>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Language Barrier: </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Most information in current apps is too complex for low-literacy farmers; our system simplifies this content.</a:t>
            </a:r>
          </a:p>
        </p:txBody>
      </p:sp>
      <p:sp>
        <p:nvSpPr>
          <p:cNvPr id="123" name="Google Shape;123;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latin typeface="Times New Roman" panose="02020603050405020304"/>
                <a:ea typeface="Times New Roman" panose="02020603050405020304"/>
                <a:cs typeface="Times New Roman" panose="02020603050405020304"/>
                <a:sym typeface="Times New Roman" panose="02020603050405020304"/>
              </a:rPr>
              <a:t>3/3/2026</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24" name="Google Shape;124;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Times New Roman" panose="02020603050405020304"/>
                <a:ea typeface="Times New Roman" panose="02020603050405020304"/>
                <a:cs typeface="Times New Roman" panose="02020603050405020304"/>
                <a:sym typeface="Times New Roman" panose="02020603050405020304"/>
              </a:rPr>
              <a:t>CPE – 22060 Presentation</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7"/>
          <p:cNvSpPr txBox="1">
            <a:spLocks noGrp="1"/>
          </p:cNvSpPr>
          <p:nvPr>
            <p:ph type="title"/>
          </p:nvPr>
        </p:nvSpPr>
        <p:spPr>
          <a:xfrm>
            <a:off x="457200" y="274638"/>
            <a:ext cx="8229600" cy="62097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2. Literature Review</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22" name="Google Shape;122;p17"/>
          <p:cNvSpPr txBox="1">
            <a:spLocks noGrp="1"/>
          </p:cNvSpPr>
          <p:nvPr>
            <p:ph type="body" idx="1"/>
          </p:nvPr>
        </p:nvSpPr>
        <p:spPr>
          <a:xfrm>
            <a:off x="457200" y="102235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lvl="0" indent="0" algn="just" rtl="0">
              <a:lnSpc>
                <a:spcPct val="150000"/>
              </a:lnSpc>
              <a:spcBef>
                <a:spcPts val="0"/>
              </a:spcBef>
              <a:spcAft>
                <a:spcPts val="0"/>
              </a:spcAft>
              <a:buClr>
                <a:schemeClr val="dk1"/>
              </a:buClr>
              <a:buSzPts val="3200"/>
              <a:buNone/>
            </a:pPr>
            <a:r>
              <a:rPr lang="en-IN" altLang="en-US" sz="2000" b="1" dirty="0">
                <a:latin typeface="Times New Roman" panose="02020603050405020304"/>
                <a:ea typeface="Times New Roman" panose="02020603050405020304"/>
                <a:cs typeface="Times New Roman" panose="02020603050405020304"/>
                <a:sym typeface="Times New Roman" panose="02020603050405020304"/>
              </a:rPr>
              <a:t>2</a:t>
            </a:r>
            <a:r>
              <a:rPr lang="en-US" altLang="en-US" sz="2000" b="1" dirty="0">
                <a:latin typeface="Times New Roman" panose="02020603050405020304"/>
                <a:ea typeface="Times New Roman" panose="02020603050405020304"/>
                <a:cs typeface="Times New Roman" panose="02020603050405020304"/>
                <a:sym typeface="Times New Roman" panose="02020603050405020304"/>
              </a:rPr>
              <a:t>.2 Problem Statement</a:t>
            </a:r>
          </a:p>
          <a:p>
            <a:pPr marL="203200" lvl="0" indent="0" algn="just" rtl="0">
              <a:lnSpc>
                <a:spcPct val="150000"/>
              </a:lnSpc>
              <a:spcBef>
                <a:spcPts val="0"/>
              </a:spcBef>
              <a:spcAft>
                <a:spcPts val="0"/>
              </a:spcAft>
              <a:buClr>
                <a:schemeClr val="dk1"/>
              </a:buClr>
              <a:buSzPts val="3200"/>
              <a:buNone/>
            </a:pPr>
            <a:r>
              <a:rPr lang="en-US" altLang="en-US" sz="2000" dirty="0">
                <a:latin typeface="Times New Roman" panose="02020603050405020304"/>
                <a:ea typeface="Times New Roman" panose="02020603050405020304"/>
                <a:cs typeface="Times New Roman" panose="02020603050405020304"/>
                <a:sym typeface="Times New Roman" panose="02020603050405020304"/>
              </a:rPr>
              <a:t>Farmers face several challenges that motivated the development of Krushi Sakha:</a:t>
            </a:r>
          </a:p>
          <a:p>
            <a:pPr marL="546100" algn="just">
              <a:lnSpc>
                <a:spcPct val="150000"/>
              </a:lnSpc>
              <a:spcBef>
                <a:spcPts val="0"/>
              </a:spcBef>
              <a:buSzPct val="100000"/>
            </a:pPr>
            <a:r>
              <a:rPr lang="en-US" altLang="en-US" sz="2000" dirty="0">
                <a:latin typeface="Times New Roman" panose="02020603050405020304"/>
                <a:ea typeface="Times New Roman" panose="02020603050405020304"/>
                <a:cs typeface="Times New Roman" panose="02020603050405020304"/>
                <a:sym typeface="Times New Roman" panose="02020603050405020304"/>
              </a:rPr>
              <a:t>Lack of knowledge regarding correct sowing timing and soil preparation.  </a:t>
            </a:r>
          </a:p>
          <a:p>
            <a:pPr marL="546100" algn="just">
              <a:lnSpc>
                <a:spcPct val="150000"/>
              </a:lnSpc>
              <a:spcBef>
                <a:spcPts val="0"/>
              </a:spcBef>
              <a:buSzPct val="100000"/>
            </a:pPr>
            <a:r>
              <a:rPr lang="en-US" altLang="en-US" sz="2000" dirty="0">
                <a:latin typeface="Times New Roman" panose="02020603050405020304"/>
                <a:ea typeface="Times New Roman" panose="02020603050405020304"/>
                <a:cs typeface="Times New Roman" panose="02020603050405020304"/>
                <a:sym typeface="Times New Roman" panose="02020603050405020304"/>
              </a:rPr>
              <a:t>Incorrect use of fertilizers and pesticides, leading to health hazards and soil degradation.  </a:t>
            </a:r>
          </a:p>
          <a:p>
            <a:pPr marL="546100" algn="just">
              <a:lnSpc>
                <a:spcPct val="150000"/>
              </a:lnSpc>
              <a:spcBef>
                <a:spcPts val="0"/>
              </a:spcBef>
              <a:buSzPct val="100000"/>
            </a:pPr>
            <a:r>
              <a:rPr lang="en-US" altLang="en-US" sz="2000" dirty="0">
                <a:latin typeface="Times New Roman" panose="02020603050405020304"/>
                <a:ea typeface="Times New Roman" panose="02020603050405020304"/>
                <a:cs typeface="Times New Roman" panose="02020603050405020304"/>
                <a:sym typeface="Times New Roman" panose="02020603050405020304"/>
              </a:rPr>
              <a:t>Inability to identify crop diseases early, resulting in large-scale crop loss.  </a:t>
            </a:r>
          </a:p>
          <a:p>
            <a:pPr marL="546100" algn="just">
              <a:lnSpc>
                <a:spcPct val="150000"/>
              </a:lnSpc>
              <a:spcBef>
                <a:spcPts val="0"/>
              </a:spcBef>
              <a:buSzPct val="100000"/>
            </a:pPr>
            <a:r>
              <a:rPr lang="en-US" altLang="en-US" sz="2000" dirty="0">
                <a:latin typeface="Times New Roman" panose="02020603050405020304"/>
                <a:ea typeface="Times New Roman" panose="02020603050405020304"/>
                <a:cs typeface="Times New Roman" panose="02020603050405020304"/>
                <a:sym typeface="Times New Roman" panose="02020603050405020304"/>
              </a:rPr>
              <a:t>Difficulty for farmers to manage and secure their own agricultural data profile.</a:t>
            </a:r>
          </a:p>
        </p:txBody>
      </p:sp>
      <p:sp>
        <p:nvSpPr>
          <p:cNvPr id="96" name="Google Shape;9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97" name="Google Shape;9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98" name="Google Shape;9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21;p17"/>
          <p:cNvSpPr txBox="1">
            <a:spLocks noGrp="1"/>
          </p:cNvSpPr>
          <p:nvPr>
            <p:ph type="title"/>
          </p:nvPr>
        </p:nvSpPr>
        <p:spPr>
          <a:xfrm>
            <a:off x="457200" y="274638"/>
            <a:ext cx="8229600" cy="62097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2. Literature Review</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22" name="Google Shape;122;p17"/>
          <p:cNvSpPr txBox="1">
            <a:spLocks noGrp="1"/>
          </p:cNvSpPr>
          <p:nvPr>
            <p:ph type="body" idx="1"/>
          </p:nvPr>
        </p:nvSpPr>
        <p:spPr>
          <a:xfrm>
            <a:off x="457200" y="102235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lvl="0" indent="0" algn="just" rtl="0">
              <a:lnSpc>
                <a:spcPct val="150000"/>
              </a:lnSpc>
              <a:spcBef>
                <a:spcPts val="0"/>
              </a:spcBef>
              <a:spcAft>
                <a:spcPts val="0"/>
              </a:spcAft>
              <a:buClr>
                <a:schemeClr val="dk1"/>
              </a:buClr>
              <a:buSzPts val="3200"/>
              <a:buNone/>
            </a:pPr>
            <a:r>
              <a:rPr lang="en-IN" altLang="en-US" sz="2000" b="1" dirty="0">
                <a:latin typeface="Times New Roman" panose="02020603050405020304"/>
                <a:ea typeface="Times New Roman" panose="02020603050405020304"/>
                <a:cs typeface="Times New Roman" panose="02020603050405020304"/>
                <a:sym typeface="Times New Roman" panose="02020603050405020304"/>
              </a:rPr>
              <a:t>2</a:t>
            </a:r>
            <a:r>
              <a:rPr lang="en-US" altLang="en-US" sz="2000" b="1" dirty="0">
                <a:latin typeface="Times New Roman" panose="02020603050405020304"/>
                <a:ea typeface="Times New Roman" panose="02020603050405020304"/>
                <a:cs typeface="Times New Roman" panose="02020603050405020304"/>
                <a:sym typeface="Times New Roman" panose="02020603050405020304"/>
              </a:rPr>
              <a:t>.3 Problem Definition</a:t>
            </a:r>
          </a:p>
          <a:p>
            <a:pPr marL="546100" lvl="0" algn="just" rtl="0">
              <a:lnSpc>
                <a:spcPct val="150000"/>
              </a:lnSpc>
              <a:spcBef>
                <a:spcPts val="0"/>
              </a:spcBef>
              <a:spcAft>
                <a:spcPts val="0"/>
              </a:spcAft>
              <a:buClr>
                <a:schemeClr val="dk1"/>
              </a:buClr>
              <a:buSzPct val="100000"/>
            </a:pPr>
            <a:r>
              <a:rPr lang="en-US" altLang="en-US" sz="2000" dirty="0">
                <a:latin typeface="Times New Roman" panose="02020603050405020304"/>
                <a:ea typeface="Times New Roman" panose="02020603050405020304"/>
                <a:cs typeface="Times New Roman" panose="02020603050405020304"/>
                <a:sym typeface="Times New Roman" panose="02020603050405020304"/>
              </a:rPr>
              <a:t>There is an urgent need for a system that provides structured, offline-capable guidance with secure user management.</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Proposed System:</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 An Android application that requires user authentication to access scientific roadmaps.  </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Core Goal: </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To improve requirement quality and farming efficiency by validating agricultural data before it reaches the farmer.</a:t>
            </a:r>
          </a:p>
        </p:txBody>
      </p:sp>
      <p:sp>
        <p:nvSpPr>
          <p:cNvPr id="96" name="Google Shape;9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97" name="Google Shape;9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98" name="Google Shape;9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8"/>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3. Scope of the project</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p18"/>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r>
              <a:rPr lang="en-US" dirty="0"/>
              <a:t> </a:t>
            </a:r>
            <a:endParaRPr dirty="0"/>
          </a:p>
        </p:txBody>
      </p:sp>
      <p:pic>
        <p:nvPicPr>
          <p:cNvPr id="2" name="Picture 1"/>
          <p:cNvPicPr>
            <a:picLocks noChangeAspect="1"/>
          </p:cNvPicPr>
          <p:nvPr/>
        </p:nvPicPr>
        <p:blipFill>
          <a:blip r:embed="rId3"/>
          <a:stretch>
            <a:fillRect/>
          </a:stretch>
        </p:blipFill>
        <p:spPr>
          <a:xfrm>
            <a:off x="553720" y="1081405"/>
            <a:ext cx="8037195" cy="5107940"/>
          </a:xfrm>
          <a:prstGeom prst="rect">
            <a:avLst/>
          </a:prstGeom>
        </p:spPr>
      </p:pic>
      <p:sp>
        <p:nvSpPr>
          <p:cNvPr id="96" name="Google Shape;9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97" name="Google Shape;9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98" name="Google Shape;9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9"/>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4. Methodology</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42" name="Google Shape;142;p19"/>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rtl="0">
              <a:lnSpc>
                <a:spcPct val="150000"/>
              </a:lnSpc>
              <a:spcBef>
                <a:spcPts val="0"/>
              </a:spcBef>
              <a:spcAft>
                <a:spcPts val="0"/>
              </a:spcAft>
              <a:buClr>
                <a:schemeClr val="dk1"/>
              </a:buClr>
              <a:buSzPts val="3200"/>
              <a:buNone/>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4.1 Technologies used:</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Android Studio (Java): </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Used to develop the frontend, backend logic, and user authentication modules.  </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Firebase Authentication:</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 Handles secure sign-in and account creation for both Farmers and Admins.  </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Firebase Realtime Database: </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Stores user profiles and hierarchical crop data nodes.  </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Firebase Disk Persistence: </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Enables the app to serve text data even when the device is completely offline.</a:t>
            </a:r>
          </a:p>
        </p:txBody>
      </p:sp>
      <p:sp>
        <p:nvSpPr>
          <p:cNvPr id="143" name="Google Shape;143;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144" name="Google Shape;144;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145" name="Google Shape;145;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Google Shape;141;p19"/>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4. Methodology</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42" name="Google Shape;142;p19"/>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rtl="0">
              <a:lnSpc>
                <a:spcPct val="150000"/>
              </a:lnSpc>
              <a:spcBef>
                <a:spcPts val="0"/>
              </a:spcBef>
              <a:spcAft>
                <a:spcPts val="0"/>
              </a:spcAft>
              <a:buClr>
                <a:schemeClr val="dk1"/>
              </a:buClr>
              <a:buSzPts val="3200"/>
              <a:buNone/>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4.2 User Authentication Flow</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​Farmer Registration: </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Users provide their Name, Email, and Password, which are validated and stored in Firebase.  </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​Farmer Login: </a:t>
            </a:r>
            <a:r>
              <a:rPr lang="en-US" altLang="en-US" sz="2000" dirty="0">
                <a:latin typeface="Times New Roman" panose="02020603050405020304"/>
                <a:ea typeface="Times New Roman" panose="02020603050405020304"/>
                <a:cs typeface="Times New Roman" panose="02020603050405020304"/>
                <a:sym typeface="Times New Roman" panose="02020603050405020304"/>
              </a:rPr>
              <a:t>Existing users authenticate via secure credentials to enter the main dashboard.  </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a:ea typeface="Times New Roman" panose="02020603050405020304"/>
                <a:cs typeface="Times New Roman" panose="02020603050405020304"/>
                <a:sym typeface="Times New Roman" panose="02020603050405020304"/>
              </a:rPr>
              <a:t>​Admin Login:</a:t>
            </a:r>
            <a:r>
              <a:rPr lang="en-IN" altLang="en-US" sz="2000" b="1" dirty="0">
                <a:latin typeface="Times New Roman" panose="02020603050405020304"/>
                <a:ea typeface="Times New Roman" panose="02020603050405020304"/>
                <a:cs typeface="Times New Roman" panose="02020603050405020304"/>
                <a:sym typeface="Times New Roman" panose="02020603050405020304"/>
              </a:rPr>
              <a:t>  </a:t>
            </a:r>
            <a:r>
              <a:rPr lang="en-IN" altLang="en-US" sz="2000" dirty="0">
                <a:latin typeface="Times New Roman" panose="02020603050405020304"/>
                <a:ea typeface="Times New Roman" panose="02020603050405020304"/>
                <a:cs typeface="Times New Roman" panose="02020603050405020304"/>
                <a:sym typeface="Times New Roman" panose="02020603050405020304"/>
              </a:rPr>
              <a:t>The role of Admin is give statically by defining the role in database as Admin</a:t>
            </a:r>
          </a:p>
        </p:txBody>
      </p:sp>
      <p:sp>
        <p:nvSpPr>
          <p:cNvPr id="143" name="Google Shape;143;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144" name="Google Shape;144;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145" name="Google Shape;145;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53;p20"/>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5. Details of designs, working &amp; processes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9" name="Google Shape;154;p20"/>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92500" lnSpcReduction="20000"/>
          </a:bodyPr>
          <a:lstStyle/>
          <a:p>
            <a:pPr marL="342900" lvl="0" indent="-139700" algn="l" rtl="0">
              <a:spcBef>
                <a:spcPts val="0"/>
              </a:spcBef>
              <a:spcAft>
                <a:spcPts val="0"/>
              </a:spcAft>
              <a:buClr>
                <a:schemeClr val="dk1"/>
              </a:buClr>
              <a:buSzPts val="3200"/>
              <a:buNone/>
            </a:pPr>
            <a:r>
              <a:rPr lang="en-IN" altLang="en-US" sz="2160" b="1" dirty="0">
                <a:latin typeface="Times New Roman" panose="02020603050405020304"/>
                <a:ea typeface="Times New Roman" panose="02020603050405020304"/>
                <a:cs typeface="Times New Roman" panose="02020603050405020304"/>
                <a:sym typeface="Times New Roman" panose="02020603050405020304"/>
              </a:rPr>
              <a:t>5.1 ER Diagram</a:t>
            </a:r>
            <a:endParaRPr sz="2160" b="1"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0"/>
              </a:spcBef>
              <a:spcAft>
                <a:spcPts val="0"/>
              </a:spcAft>
              <a:buClr>
                <a:schemeClr val="dk1"/>
              </a:buClr>
              <a:buSzPts val="3200"/>
              <a:buNone/>
            </a:pPr>
            <a:endParaRPr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endParaRPr lang="en-IN" sz="2200" dirty="0">
              <a:latin typeface="Times New Roman" panose="02020603050405020304"/>
              <a:ea typeface="Times New Roman" panose="02020603050405020304"/>
              <a:cs typeface="Times New Roman" panose="02020603050405020304"/>
              <a:sym typeface="Times New Roman" panose="02020603050405020304"/>
            </a:endParaRPr>
          </a:p>
          <a:p>
            <a:pPr marL="800100" lvl="0" indent="-139700" algn="l" rtl="0">
              <a:spcBef>
                <a:spcPts val="0"/>
              </a:spcBef>
              <a:spcAft>
                <a:spcPts val="0"/>
              </a:spcAft>
              <a:buClr>
                <a:schemeClr val="dk1"/>
              </a:buClr>
              <a:buSzPts val="3200"/>
              <a:buNone/>
            </a:pPr>
            <a:endParaRPr lang="en-IN" sz="2200" dirty="0">
              <a:latin typeface="Times New Roman" panose="02020603050405020304"/>
              <a:ea typeface="Times New Roman" panose="02020603050405020304"/>
              <a:cs typeface="Times New Roman" panose="02020603050405020304"/>
              <a:sym typeface="Times New Roman" panose="02020603050405020304"/>
            </a:endParaRPr>
          </a:p>
          <a:p>
            <a:pPr marL="800100" lvl="0" indent="-139700">
              <a:spcBef>
                <a:spcPts val="0"/>
              </a:spcBef>
              <a:buSzPts val="3200"/>
              <a:buNone/>
            </a:pPr>
            <a:endParaRPr lang="en-IN" sz="2200" dirty="0">
              <a:latin typeface="Times New Roman" panose="02020603050405020304"/>
              <a:ea typeface="Times New Roman" panose="02020603050405020304"/>
              <a:cs typeface="Times New Roman" panose="02020603050405020304"/>
              <a:sym typeface="Times New Roman" panose="02020603050405020304"/>
            </a:endParaRPr>
          </a:p>
          <a:p>
            <a:pPr marL="800100" indent="-139700">
              <a:spcBef>
                <a:spcPts val="0"/>
              </a:spcBef>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800100" indent="-139700">
              <a:spcBef>
                <a:spcPts val="0"/>
              </a:spcBef>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r>
              <a:rPr lang="en-US" sz="3100" dirty="0">
                <a:latin typeface="Times New Roman" panose="02020603050405020304"/>
                <a:ea typeface="Times New Roman" panose="02020603050405020304"/>
                <a:cs typeface="Times New Roman" panose="02020603050405020304"/>
                <a:sym typeface="Times New Roman" panose="02020603050405020304"/>
              </a:rPr>
              <a:t>	                              </a:t>
            </a:r>
          </a:p>
          <a:p>
            <a:pPr marL="800100" indent="-139700">
              <a:spcBef>
                <a:spcPts val="0"/>
              </a:spcBef>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endParaRPr sz="22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0" name="Google Shape;15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11" name="Google Shape;15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12" name="Google Shape;15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11</a:t>
            </a:fld>
            <a:endParaRPr lang="en-US"/>
          </a:p>
        </p:txBody>
      </p:sp>
      <p:pic>
        <p:nvPicPr>
          <p:cNvPr id="6" name="Picture 5"/>
          <p:cNvPicPr>
            <a:picLocks noChangeAspect="1"/>
          </p:cNvPicPr>
          <p:nvPr/>
        </p:nvPicPr>
        <p:blipFill>
          <a:blip r:embed="rId2"/>
          <a:stretch>
            <a:fillRect/>
          </a:stretch>
        </p:blipFill>
        <p:spPr>
          <a:xfrm>
            <a:off x="1096010" y="1276985"/>
            <a:ext cx="6952615" cy="49701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latin typeface="Times New Roman" panose="02020603050405020304"/>
                <a:ea typeface="Times New Roman" panose="02020603050405020304"/>
                <a:cs typeface="Times New Roman" panose="02020603050405020304"/>
                <a:sym typeface="Times New Roman" panose="02020603050405020304"/>
              </a:rPr>
              <a:t>5. Details of designs, working &amp; processes</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54" name="Google Shape;154;p20"/>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0000" lnSpcReduction="20000"/>
          </a:bodyPr>
          <a:lstStyle/>
          <a:p>
            <a:pPr marL="342900" lvl="0" indent="-139700" algn="l" rtl="0">
              <a:spcBef>
                <a:spcPts val="0"/>
              </a:spcBef>
              <a:spcAft>
                <a:spcPts val="0"/>
              </a:spcAft>
              <a:buClr>
                <a:schemeClr val="dk1"/>
              </a:buClr>
              <a:buSzPts val="3200"/>
              <a:buNone/>
            </a:pPr>
            <a:r>
              <a:rPr lang="en-IN" altLang="en-US" b="1" dirty="0">
                <a:latin typeface="Times New Roman" panose="02020603050405020304"/>
                <a:ea typeface="Times New Roman" panose="02020603050405020304"/>
                <a:cs typeface="Times New Roman" panose="02020603050405020304"/>
                <a:sym typeface="Times New Roman" panose="02020603050405020304"/>
              </a:rPr>
              <a:t>5.2 </a:t>
            </a:r>
            <a:r>
              <a:rPr lang="en-US" b="1" dirty="0">
                <a:latin typeface="Times New Roman" panose="02020603050405020304"/>
                <a:ea typeface="Times New Roman" panose="02020603050405020304"/>
                <a:cs typeface="Times New Roman" panose="02020603050405020304"/>
                <a:sym typeface="Times New Roman" panose="02020603050405020304"/>
              </a:rPr>
              <a:t>UI Flow</a:t>
            </a:r>
            <a:endParaRPr b="1"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0"/>
              </a:spcBef>
              <a:spcAft>
                <a:spcPts val="0"/>
              </a:spcAft>
              <a:buClr>
                <a:schemeClr val="dk1"/>
              </a:buClr>
              <a:buSzPts val="3200"/>
              <a:buNone/>
            </a:pPr>
            <a:endParaRPr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0"/>
              </a:spcBef>
              <a:spcAft>
                <a:spcPts val="0"/>
              </a:spcAft>
              <a:buClr>
                <a:schemeClr val="dk1"/>
              </a:buClr>
              <a:buSzPts val="3200"/>
              <a:buNone/>
            </a:pPr>
            <a:endParaRPr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0"/>
              </a:spcBef>
              <a:spcAft>
                <a:spcPts val="0"/>
              </a:spcAft>
              <a:buClr>
                <a:schemeClr val="dk1"/>
              </a:buClr>
              <a:buSzPts val="3200"/>
              <a:buNone/>
            </a:pPr>
            <a:endParaRPr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0"/>
              </a:spcBef>
              <a:spcAft>
                <a:spcPts val="0"/>
              </a:spcAft>
              <a:buClr>
                <a:schemeClr val="dk1"/>
              </a:buClr>
              <a:buSzPts val="3200"/>
              <a:buNone/>
            </a:pPr>
            <a:endParaRPr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0"/>
              </a:spcBef>
              <a:spcAft>
                <a:spcPts val="0"/>
              </a:spcAft>
              <a:buClr>
                <a:schemeClr val="dk1"/>
              </a:buClr>
              <a:buSzPts val="3200"/>
              <a:buNone/>
            </a:pPr>
            <a:endParaRPr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spcBef>
                <a:spcPts val="0"/>
              </a:spcBef>
              <a:spcAft>
                <a:spcPts val="0"/>
              </a:spcAft>
              <a:buClr>
                <a:schemeClr val="dk1"/>
              </a:buClr>
              <a:buSzPts val="3200"/>
              <a:buNone/>
            </a:pPr>
            <a:endParaRPr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1714500" lvl="0" indent="-139700" algn="l" rtl="0">
              <a:spcBef>
                <a:spcPts val="0"/>
              </a:spcBef>
              <a:spcAft>
                <a:spcPts val="0"/>
              </a:spcAft>
              <a:buClr>
                <a:schemeClr val="dk1"/>
              </a:buClr>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endParaRPr lang="en-IN" sz="2200" dirty="0">
              <a:latin typeface="Times New Roman" panose="02020603050405020304"/>
              <a:ea typeface="Times New Roman" panose="02020603050405020304"/>
              <a:cs typeface="Times New Roman" panose="02020603050405020304"/>
              <a:sym typeface="Times New Roman" panose="02020603050405020304"/>
            </a:endParaRPr>
          </a:p>
          <a:p>
            <a:pPr marL="800100" lvl="0" indent="-139700" algn="l" rtl="0">
              <a:spcBef>
                <a:spcPts val="0"/>
              </a:spcBef>
              <a:spcAft>
                <a:spcPts val="0"/>
              </a:spcAft>
              <a:buClr>
                <a:schemeClr val="dk1"/>
              </a:buClr>
              <a:buSzPts val="3200"/>
              <a:buNone/>
            </a:pPr>
            <a:endParaRPr lang="en-IN" sz="2200" dirty="0">
              <a:latin typeface="Times New Roman" panose="02020603050405020304"/>
              <a:ea typeface="Times New Roman" panose="02020603050405020304"/>
              <a:cs typeface="Times New Roman" panose="02020603050405020304"/>
              <a:sym typeface="Times New Roman" panose="02020603050405020304"/>
            </a:endParaRPr>
          </a:p>
          <a:p>
            <a:pPr marL="800100" lvl="0" indent="-139700">
              <a:spcBef>
                <a:spcPts val="0"/>
              </a:spcBef>
              <a:buSzPts val="3200"/>
              <a:buNone/>
            </a:pPr>
            <a:endParaRPr lang="en-IN" sz="2200" dirty="0">
              <a:latin typeface="Times New Roman" panose="02020603050405020304"/>
              <a:ea typeface="Times New Roman" panose="02020603050405020304"/>
              <a:cs typeface="Times New Roman" panose="02020603050405020304"/>
              <a:sym typeface="Times New Roman" panose="02020603050405020304"/>
            </a:endParaRPr>
          </a:p>
          <a:p>
            <a:pPr marL="800100" indent="-139700">
              <a:spcBef>
                <a:spcPts val="0"/>
              </a:spcBef>
              <a:buSzPts val="3200"/>
              <a:buNone/>
            </a:pPr>
            <a:endParaRPr lang="en-US" sz="2200" dirty="0">
              <a:latin typeface="Times New Roman" panose="02020603050405020304"/>
              <a:ea typeface="Times New Roman" panose="02020603050405020304"/>
              <a:cs typeface="Times New Roman" panose="02020603050405020304"/>
              <a:sym typeface="Times New Roman" panose="02020603050405020304"/>
            </a:endParaRPr>
          </a:p>
          <a:p>
            <a:pPr marL="800100" indent="-139700">
              <a:spcBef>
                <a:spcPts val="0"/>
              </a:spcBef>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r>
              <a:rPr lang="en-US" sz="3100" dirty="0">
                <a:latin typeface="Times New Roman" panose="02020603050405020304"/>
                <a:ea typeface="Times New Roman" panose="02020603050405020304"/>
                <a:cs typeface="Times New Roman" panose="02020603050405020304"/>
                <a:sym typeface="Times New Roman" panose="02020603050405020304"/>
              </a:rPr>
              <a:t>	                              </a:t>
            </a:r>
          </a:p>
          <a:p>
            <a:pPr marL="800100" indent="-139700">
              <a:spcBef>
                <a:spcPts val="0"/>
              </a:spcBef>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a:t>
            </a:r>
            <a:endParaRPr sz="22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55" name="Google Shape;15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156" name="Google Shape;15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157" name="Google Shape;15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12</a:t>
            </a:fld>
            <a:endParaRPr lang="en-US"/>
          </a:p>
        </p:txBody>
      </p:sp>
      <p:pic>
        <p:nvPicPr>
          <p:cNvPr id="3" name="Google Shape;159;p20"/>
          <p:cNvPicPr preferRelativeResize="0"/>
          <p:nvPr/>
        </p:nvPicPr>
        <p:blipFill>
          <a:blip r:embed="rId3"/>
          <a:stretch>
            <a:fillRect/>
          </a:stretch>
        </p:blipFill>
        <p:spPr>
          <a:xfrm>
            <a:off x="1285875" y="1012190"/>
            <a:ext cx="6102350" cy="530987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1"/>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dirty="0"/>
              <a:t>6. Results and Applications</a:t>
            </a:r>
            <a:endParaRPr dirty="0"/>
          </a:p>
        </p:txBody>
      </p:sp>
      <p:sp>
        <p:nvSpPr>
          <p:cNvPr id="165" name="Google Shape;165;p21"/>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Fig. Register Page	        Fig. Login Page	Fig. Farmer Dashboard</a:t>
            </a:r>
            <a:endParaRPr sz="22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167" name="Google Shape;16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168" name="Google Shape;16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13</a:t>
            </a:fld>
            <a:endParaRPr lang="en-US"/>
          </a:p>
        </p:txBody>
      </p:sp>
      <p:pic>
        <p:nvPicPr>
          <p:cNvPr id="2" name="Picture 1"/>
          <p:cNvPicPr>
            <a:picLocks noChangeAspect="1"/>
          </p:cNvPicPr>
          <p:nvPr/>
        </p:nvPicPr>
        <p:blipFill>
          <a:blip r:embed="rId3"/>
          <a:stretch>
            <a:fillRect/>
          </a:stretch>
        </p:blipFill>
        <p:spPr>
          <a:xfrm>
            <a:off x="3415030" y="1090930"/>
            <a:ext cx="2313940" cy="4324350"/>
          </a:xfrm>
          <a:prstGeom prst="rect">
            <a:avLst/>
          </a:prstGeom>
        </p:spPr>
      </p:pic>
      <p:pic>
        <p:nvPicPr>
          <p:cNvPr id="3" name="Picture 2"/>
          <p:cNvPicPr>
            <a:picLocks noChangeAspect="1"/>
          </p:cNvPicPr>
          <p:nvPr/>
        </p:nvPicPr>
        <p:blipFill>
          <a:blip r:embed="rId4"/>
          <a:stretch>
            <a:fillRect/>
          </a:stretch>
        </p:blipFill>
        <p:spPr>
          <a:xfrm>
            <a:off x="688975" y="1090930"/>
            <a:ext cx="2435225" cy="4324985"/>
          </a:xfrm>
          <a:prstGeom prst="rect">
            <a:avLst/>
          </a:prstGeom>
        </p:spPr>
      </p:pic>
      <p:pic>
        <p:nvPicPr>
          <p:cNvPr id="5" name="Picture 4"/>
          <p:cNvPicPr>
            <a:picLocks noChangeAspect="1"/>
          </p:cNvPicPr>
          <p:nvPr/>
        </p:nvPicPr>
        <p:blipFill>
          <a:blip r:embed="rId5"/>
          <a:stretch>
            <a:fillRect/>
          </a:stretch>
        </p:blipFill>
        <p:spPr>
          <a:xfrm>
            <a:off x="6019800" y="1090930"/>
            <a:ext cx="2434590" cy="43243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1"/>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dirty="0"/>
              <a:t>6. Results and Applications</a:t>
            </a:r>
            <a:endParaRPr dirty="0"/>
          </a:p>
        </p:txBody>
      </p:sp>
      <p:sp>
        <p:nvSpPr>
          <p:cNvPr id="165" name="Google Shape;165;p21"/>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Fig. </a:t>
            </a:r>
            <a:r>
              <a:rPr lang="en-IN" altLang="en-US" sz="2200" dirty="0">
                <a:latin typeface="Times New Roman" panose="02020603050405020304"/>
                <a:ea typeface="Times New Roman" panose="02020603050405020304"/>
                <a:cs typeface="Times New Roman" panose="02020603050405020304"/>
                <a:sym typeface="Times New Roman" panose="02020603050405020304"/>
              </a:rPr>
              <a:t>Seasons</a:t>
            </a:r>
            <a:r>
              <a:rPr lang="en-US" sz="2200" dirty="0">
                <a:latin typeface="Times New Roman" panose="02020603050405020304"/>
                <a:ea typeface="Times New Roman" panose="02020603050405020304"/>
                <a:cs typeface="Times New Roman" panose="02020603050405020304"/>
                <a:sym typeface="Times New Roman" panose="02020603050405020304"/>
              </a:rPr>
              <a:t> Page                   	        Fig.</a:t>
            </a:r>
            <a:r>
              <a:rPr lang="en-IN" altLang="en-US" sz="2200" dirty="0">
                <a:latin typeface="Times New Roman" panose="02020603050405020304"/>
                <a:ea typeface="Times New Roman" panose="02020603050405020304"/>
                <a:cs typeface="Times New Roman" panose="02020603050405020304"/>
                <a:sym typeface="Times New Roman" panose="02020603050405020304"/>
              </a:rPr>
              <a:t> Crop Info</a:t>
            </a:r>
            <a:r>
              <a:rPr lang="en-US" sz="2200" dirty="0">
                <a:latin typeface="Times New Roman" panose="02020603050405020304"/>
                <a:ea typeface="Times New Roman" panose="02020603050405020304"/>
                <a:cs typeface="Times New Roman" panose="02020603050405020304"/>
                <a:sym typeface="Times New Roman" panose="02020603050405020304"/>
              </a:rPr>
              <a:t> Page	</a:t>
            </a:r>
            <a:endParaRPr sz="22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167" name="Google Shape;16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168" name="Google Shape;16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14</a:t>
            </a:fld>
            <a:endParaRPr lang="en-US"/>
          </a:p>
        </p:txBody>
      </p:sp>
      <p:sp>
        <p:nvSpPr>
          <p:cNvPr id="2" name="AutoShape 2"/>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 name="AutoShape 4"/>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6" name="Picture 5"/>
          <p:cNvPicPr>
            <a:picLocks noChangeAspect="1"/>
          </p:cNvPicPr>
          <p:nvPr/>
        </p:nvPicPr>
        <p:blipFill>
          <a:blip r:embed="rId3"/>
          <a:stretch>
            <a:fillRect/>
          </a:stretch>
        </p:blipFill>
        <p:spPr>
          <a:xfrm>
            <a:off x="1646555" y="1091565"/>
            <a:ext cx="2313305" cy="4323715"/>
          </a:xfrm>
          <a:prstGeom prst="rect">
            <a:avLst/>
          </a:prstGeom>
        </p:spPr>
      </p:pic>
      <p:pic>
        <p:nvPicPr>
          <p:cNvPr id="8" name="Picture 7"/>
          <p:cNvPicPr>
            <a:picLocks noChangeAspect="1"/>
          </p:cNvPicPr>
          <p:nvPr/>
        </p:nvPicPr>
        <p:blipFill>
          <a:blip r:embed="rId4"/>
          <a:stretch>
            <a:fillRect/>
          </a:stretch>
        </p:blipFill>
        <p:spPr>
          <a:xfrm>
            <a:off x="5488940" y="1091565"/>
            <a:ext cx="2312035" cy="43237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2"/>
          <p:cNvSpPr txBox="1">
            <a:spLocks noGrp="1"/>
          </p:cNvSpPr>
          <p:nvPr>
            <p:ph type="title"/>
          </p:nvPr>
        </p:nvSpPr>
        <p:spPr>
          <a:xfrm>
            <a:off x="457200" y="274638"/>
            <a:ext cx="8229600" cy="6399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6. Results and Applications</a:t>
            </a:r>
          </a:p>
        </p:txBody>
      </p:sp>
      <p:sp>
        <p:nvSpPr>
          <p:cNvPr id="177" name="Google Shape;177;p22"/>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endParaRPr sz="2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139700" algn="l" rtl="0">
              <a:lnSpc>
                <a:spcPct val="80000"/>
              </a:lnSpc>
              <a:spcBef>
                <a:spcPts val="0"/>
              </a:spcBef>
              <a:spcAft>
                <a:spcPts val="0"/>
              </a:spcAft>
              <a:buClr>
                <a:schemeClr val="dk1"/>
              </a:buClr>
              <a:buSzPts val="3200"/>
              <a:buNone/>
            </a:pPr>
            <a:r>
              <a:rPr lang="en-US" sz="2200" dirty="0">
                <a:latin typeface="Times New Roman" panose="02020603050405020304"/>
                <a:ea typeface="Times New Roman" panose="02020603050405020304"/>
                <a:cs typeface="Times New Roman" panose="02020603050405020304"/>
                <a:sym typeface="Times New Roman" panose="02020603050405020304"/>
              </a:rPr>
              <a:t>                    Fig. Admin Page                           Fig. Add Crop		</a:t>
            </a:r>
            <a:endParaRPr sz="22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p2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179" name="Google Shape;179;p2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180" name="Google Shape;180;p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15</a:t>
            </a:fld>
            <a:endParaRPr lang="en-US"/>
          </a:p>
        </p:txBody>
      </p:sp>
      <p:pic>
        <p:nvPicPr>
          <p:cNvPr id="4" name="Picture 3"/>
          <p:cNvPicPr>
            <a:picLocks noChangeAspect="1"/>
          </p:cNvPicPr>
          <p:nvPr/>
        </p:nvPicPr>
        <p:blipFill>
          <a:blip r:embed="rId3"/>
          <a:stretch>
            <a:fillRect/>
          </a:stretch>
        </p:blipFill>
        <p:spPr>
          <a:xfrm>
            <a:off x="1689100" y="1052830"/>
            <a:ext cx="2435860" cy="4325620"/>
          </a:xfrm>
          <a:prstGeom prst="rect">
            <a:avLst/>
          </a:prstGeom>
        </p:spPr>
      </p:pic>
      <p:pic>
        <p:nvPicPr>
          <p:cNvPr id="2" name="Picture 1"/>
          <p:cNvPicPr>
            <a:picLocks noChangeAspect="1"/>
          </p:cNvPicPr>
          <p:nvPr/>
        </p:nvPicPr>
        <p:blipFill>
          <a:blip r:embed="rId4"/>
          <a:stretch>
            <a:fillRect/>
          </a:stretch>
        </p:blipFill>
        <p:spPr>
          <a:xfrm>
            <a:off x="5080000" y="1052830"/>
            <a:ext cx="2435860" cy="43256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3"/>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7. Conclusion and future scope</a:t>
            </a:r>
          </a:p>
        </p:txBody>
      </p:sp>
      <p:sp>
        <p:nvSpPr>
          <p:cNvPr id="189" name="Google Shape;189;p23"/>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lnSpc>
                <a:spcPct val="150000"/>
              </a:lnSpc>
              <a:spcBef>
                <a:spcPts val="0"/>
              </a:spcBef>
              <a:spcAft>
                <a:spcPts val="0"/>
              </a:spcAft>
              <a:buClr>
                <a:schemeClr val="dk1"/>
              </a:buClr>
              <a:buSzPts val="3200"/>
              <a:buNone/>
            </a:pPr>
            <a:r>
              <a:rPr lang="en-US" altLang="en-US" sz="2000" b="1" dirty="0">
                <a:latin typeface="Times New Roman" panose="02020603050405020304" pitchFamily="18" charset="0"/>
                <a:cs typeface="Times New Roman" panose="02020603050405020304" pitchFamily="18" charset="0"/>
              </a:rPr>
              <a:t>7.1 Future Scope</a:t>
            </a:r>
            <a:r>
              <a:rPr lang="en-IN" altLang="en-US" sz="2000" b="1" dirty="0">
                <a:latin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cs typeface="Times New Roman" panose="02020603050405020304" pitchFamily="18" charset="0"/>
            </a:endParaRPr>
          </a:p>
          <a:p>
            <a:pPr marL="660400" lvl="0" indent="-457200" algn="l" rtl="0">
              <a:lnSpc>
                <a:spcPct val="150000"/>
              </a:lnSpc>
              <a:spcBef>
                <a:spcPts val="0"/>
              </a:spcBef>
              <a:spcAft>
                <a:spcPts val="0"/>
              </a:spcAft>
              <a:buClr>
                <a:schemeClr val="dk1"/>
              </a:buClr>
              <a:buSzPct val="100000"/>
            </a:pPr>
            <a:r>
              <a:rPr lang="en-US" altLang="en-US" sz="2000" dirty="0">
                <a:latin typeface="Times New Roman" panose="02020603050405020304" pitchFamily="18" charset="0"/>
                <a:cs typeface="Times New Roman" panose="02020603050405020304" pitchFamily="18" charset="0"/>
              </a:rPr>
              <a:t>Weather Integration</a:t>
            </a:r>
          </a:p>
          <a:p>
            <a:pPr marL="660400" lvl="0" indent="-457200" algn="l" rtl="0">
              <a:lnSpc>
                <a:spcPct val="150000"/>
              </a:lnSpc>
              <a:spcBef>
                <a:spcPts val="0"/>
              </a:spcBef>
              <a:spcAft>
                <a:spcPts val="0"/>
              </a:spcAft>
              <a:buClr>
                <a:schemeClr val="dk1"/>
              </a:buClr>
              <a:buSzPct val="100000"/>
            </a:pPr>
            <a:r>
              <a:rPr lang="en-US" altLang="en-US" sz="2000" dirty="0">
                <a:latin typeface="Times New Roman" panose="02020603050405020304" pitchFamily="18" charset="0"/>
                <a:cs typeface="Times New Roman" panose="02020603050405020304" pitchFamily="18" charset="0"/>
              </a:rPr>
              <a:t>Voice-Based Search  </a:t>
            </a:r>
          </a:p>
          <a:p>
            <a:pPr marL="660400" lvl="0" indent="-457200" algn="l" rtl="0">
              <a:lnSpc>
                <a:spcPct val="150000"/>
              </a:lnSpc>
              <a:spcBef>
                <a:spcPts val="0"/>
              </a:spcBef>
              <a:spcAft>
                <a:spcPts val="0"/>
              </a:spcAft>
              <a:buClr>
                <a:schemeClr val="dk1"/>
              </a:buClr>
              <a:buSzPct val="100000"/>
            </a:pPr>
            <a:r>
              <a:rPr lang="en-US" altLang="en-US" sz="2000" dirty="0">
                <a:latin typeface="Times New Roman" panose="02020603050405020304" pitchFamily="18" charset="0"/>
                <a:cs typeface="Times New Roman" panose="02020603050405020304" pitchFamily="18" charset="0"/>
              </a:rPr>
              <a:t>AI Crop Suggestions </a:t>
            </a:r>
          </a:p>
          <a:p>
            <a:pPr marL="660400" lvl="0" indent="-457200" algn="l" rtl="0">
              <a:lnSpc>
                <a:spcPct val="150000"/>
              </a:lnSpc>
              <a:spcBef>
                <a:spcPts val="0"/>
              </a:spcBef>
              <a:spcAft>
                <a:spcPts val="0"/>
              </a:spcAft>
              <a:buClr>
                <a:schemeClr val="dk1"/>
              </a:buClr>
              <a:buSzPct val="100000"/>
            </a:pPr>
            <a:r>
              <a:rPr lang="en-US" altLang="en-US" sz="2000" dirty="0">
                <a:latin typeface="Times New Roman" panose="02020603050405020304" pitchFamily="18" charset="0"/>
                <a:cs typeface="Times New Roman" panose="02020603050405020304" pitchFamily="18" charset="0"/>
              </a:rPr>
              <a:t>Multi-language Support  </a:t>
            </a:r>
          </a:p>
          <a:p>
            <a:pPr marL="660400" lvl="0" indent="-457200" algn="l" rtl="0">
              <a:lnSpc>
                <a:spcPct val="150000"/>
              </a:lnSpc>
              <a:spcBef>
                <a:spcPts val="0"/>
              </a:spcBef>
              <a:spcAft>
                <a:spcPts val="0"/>
              </a:spcAft>
              <a:buClr>
                <a:schemeClr val="dk1"/>
              </a:buClr>
              <a:buSzPct val="100000"/>
            </a:pPr>
            <a:r>
              <a:rPr lang="en-US" altLang="en-US" sz="2000" dirty="0">
                <a:latin typeface="Times New Roman" panose="02020603050405020304" pitchFamily="18" charset="0"/>
                <a:cs typeface="Times New Roman" panose="02020603050405020304" pitchFamily="18" charset="0"/>
              </a:rPr>
              <a:t>Database Expansion</a:t>
            </a:r>
          </a:p>
          <a:p>
            <a:pPr marL="660400" lvl="0" indent="-457200" algn="l" rtl="0">
              <a:lnSpc>
                <a:spcPct val="150000"/>
              </a:lnSpc>
              <a:spcBef>
                <a:spcPts val="0"/>
              </a:spcBef>
              <a:spcAft>
                <a:spcPts val="0"/>
              </a:spcAft>
              <a:buClr>
                <a:schemeClr val="dk1"/>
              </a:buClr>
              <a:buSzPct val="100000"/>
            </a:pPr>
            <a:r>
              <a:rPr lang="en-US" altLang="en-US" sz="2000" dirty="0">
                <a:latin typeface="Times New Roman" panose="02020603050405020304" pitchFamily="18" charset="0"/>
                <a:cs typeface="Times New Roman" panose="02020603050405020304" pitchFamily="18" charset="0"/>
              </a:rPr>
              <a:t>Advanced Filtering</a:t>
            </a:r>
          </a:p>
          <a:p>
            <a:pPr marL="660400" lvl="0" indent="-457200" algn="l" rtl="0">
              <a:lnSpc>
                <a:spcPct val="150000"/>
              </a:lnSpc>
              <a:spcBef>
                <a:spcPts val="0"/>
              </a:spcBef>
              <a:spcAft>
                <a:spcPts val="0"/>
              </a:spcAft>
              <a:buClr>
                <a:schemeClr val="dk1"/>
              </a:buClr>
              <a:buSzPct val="100000"/>
            </a:pPr>
            <a:r>
              <a:rPr lang="en-US" altLang="en-US" sz="2000" dirty="0">
                <a:latin typeface="Times New Roman" panose="02020603050405020304" pitchFamily="18" charset="0"/>
                <a:cs typeface="Times New Roman" panose="02020603050405020304" pitchFamily="18" charset="0"/>
              </a:rPr>
              <a:t>iOS Version Development</a:t>
            </a:r>
          </a:p>
          <a:p>
            <a:pPr marL="660400" lvl="0" indent="-457200" algn="l" rtl="0">
              <a:lnSpc>
                <a:spcPct val="150000"/>
              </a:lnSpc>
              <a:spcBef>
                <a:spcPts val="0"/>
              </a:spcBef>
              <a:spcAft>
                <a:spcPts val="0"/>
              </a:spcAft>
              <a:buClr>
                <a:schemeClr val="dk1"/>
              </a:buClr>
              <a:buSzPct val="100000"/>
            </a:pPr>
            <a:r>
              <a:rPr lang="en-US" altLang="en-US" sz="2000" dirty="0">
                <a:latin typeface="Times New Roman" panose="02020603050405020304" pitchFamily="18" charset="0"/>
                <a:cs typeface="Times New Roman" panose="02020603050405020304" pitchFamily="18" charset="0"/>
              </a:rPr>
              <a:t>Dashboard &amp; Analytics</a:t>
            </a:r>
          </a:p>
          <a:p>
            <a:pPr marL="660400" lvl="0" indent="-457200" algn="l" rtl="0">
              <a:lnSpc>
                <a:spcPct val="150000"/>
              </a:lnSpc>
              <a:spcBef>
                <a:spcPts val="0"/>
              </a:spcBef>
              <a:spcAft>
                <a:spcPts val="0"/>
              </a:spcAft>
              <a:buClr>
                <a:schemeClr val="dk1"/>
              </a:buClr>
              <a:buSzPct val="100000"/>
            </a:pPr>
            <a:r>
              <a:rPr lang="en-US" altLang="en-US" sz="2000" dirty="0">
                <a:latin typeface="Times New Roman" panose="02020603050405020304" pitchFamily="18" charset="0"/>
                <a:cs typeface="Times New Roman" panose="02020603050405020304" pitchFamily="18" charset="0"/>
              </a:rPr>
              <a:t>Offline Architecture Upgrade</a:t>
            </a:r>
          </a:p>
        </p:txBody>
      </p:sp>
      <p:sp>
        <p:nvSpPr>
          <p:cNvPr id="190" name="Google Shape;19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191" name="Google Shape;19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192" name="Google Shape;19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Google Shape;188;p23"/>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7. Conclusion and future scope</a:t>
            </a:r>
          </a:p>
        </p:txBody>
      </p:sp>
      <p:sp>
        <p:nvSpPr>
          <p:cNvPr id="189" name="Google Shape;189;p23"/>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rtl="0">
              <a:lnSpc>
                <a:spcPct val="150000"/>
              </a:lnSpc>
              <a:spcBef>
                <a:spcPts val="0"/>
              </a:spcBef>
              <a:spcAft>
                <a:spcPts val="0"/>
              </a:spcAft>
              <a:buClr>
                <a:schemeClr val="dk1"/>
              </a:buClr>
              <a:buSzPts val="3200"/>
              <a:buNone/>
            </a:pPr>
            <a:r>
              <a:rPr lang="en-US" altLang="en-US" sz="2000" b="1" dirty="0">
                <a:latin typeface="Times New Roman" panose="02020603050405020304" pitchFamily="18" charset="0"/>
                <a:cs typeface="Times New Roman" panose="02020603050405020304" pitchFamily="18" charset="0"/>
              </a:rPr>
              <a:t>​7.2 Conclusion</a:t>
            </a:r>
          </a:p>
          <a:p>
            <a:pPr marL="342900" lvl="0" indent="0" algn="just" rtl="0">
              <a:lnSpc>
                <a:spcPct val="150000"/>
              </a:lnSpc>
              <a:spcBef>
                <a:spcPts val="0"/>
              </a:spcBef>
              <a:spcAft>
                <a:spcPts val="0"/>
              </a:spcAft>
              <a:buClr>
                <a:schemeClr val="dk1"/>
              </a:buClr>
              <a:buSzPts val="3200"/>
              <a:buNone/>
            </a:pPr>
            <a:r>
              <a:rPr lang="en-US" altLang="en-US" sz="2000" dirty="0">
                <a:latin typeface="Times New Roman" panose="02020603050405020304" pitchFamily="18" charset="0"/>
                <a:cs typeface="Times New Roman" panose="02020603050405020304" pitchFamily="18" charset="0"/>
              </a:rPr>
              <a:t>Krushi Sakha is a helpful Android app that gives farmers scientific advice through a simple five-step process. We used Firebase as a Realtime Database to store crop data and manage accounts securely. The app includes a special Admin module that allows our team to add, edit, and delete crop information and photos easily. We designed the app to work fully offline so farmers can access guidance even without internet. With its high-contrast green theme for sunlight visibility, this project helps farmers find mistakes in traditional methods and provides a clear roadmap for better results.</a:t>
            </a:r>
          </a:p>
        </p:txBody>
      </p:sp>
      <p:sp>
        <p:nvSpPr>
          <p:cNvPr id="190" name="Google Shape;19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191" name="Google Shape;19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192" name="Google Shape;19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4"/>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8. References and Bibliography</a:t>
            </a:r>
          </a:p>
        </p:txBody>
      </p:sp>
      <p:sp>
        <p:nvSpPr>
          <p:cNvPr id="198" name="Google Shape;198;p24"/>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lnSpc>
                <a:spcPct val="150000"/>
              </a:lnSpc>
              <a:spcBef>
                <a:spcPts val="0"/>
              </a:spcBef>
              <a:spcAft>
                <a:spcPts val="0"/>
              </a:spcAft>
              <a:buClr>
                <a:schemeClr val="dk1"/>
              </a:buClr>
              <a:buSzPts val="2960"/>
              <a:buNone/>
            </a:pPr>
            <a:r>
              <a:rPr lang="en-IN" sz="25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8.1 </a:t>
            </a:r>
            <a:r>
              <a:rPr lang="en-US" sz="2500" b="1" dirty="0">
                <a:latin typeface="Times New Roman" panose="02020603050405020304" pitchFamily="18" charset="0"/>
                <a:cs typeface="Times New Roman" panose="02020603050405020304" pitchFamily="18" charset="0"/>
                <a:sym typeface="+mn-ea"/>
              </a:rPr>
              <a:t>References</a:t>
            </a:r>
            <a:r>
              <a:rPr lang="en-IN" altLang="en-US" sz="2500" b="1" dirty="0">
                <a:latin typeface="Times New Roman" panose="02020603050405020304" pitchFamily="18" charset="0"/>
                <a:cs typeface="Times New Roman" panose="02020603050405020304" pitchFamily="18" charset="0"/>
                <a:sym typeface="+mn-ea"/>
              </a:rPr>
              <a:t>:-</a:t>
            </a:r>
          </a:p>
          <a:p>
            <a:pPr marL="546100" algn="just">
              <a:lnSpc>
                <a:spcPct val="150000"/>
              </a:lnSpc>
              <a:spcBef>
                <a:spcPts val="0"/>
              </a:spcBef>
              <a:buSzPct val="100000"/>
            </a:pPr>
            <a:r>
              <a:rPr lang="en-US" altLang="en-US" sz="2000" dirty="0" err="1">
                <a:latin typeface="Times New Roman" panose="02020603050405020304" pitchFamily="18" charset="0"/>
                <a:ea typeface="Times New Roman" panose="02020603050405020304"/>
                <a:cs typeface="Times New Roman" panose="02020603050405020304" pitchFamily="18" charset="0"/>
                <a:sym typeface="+mn-ea"/>
              </a:rPr>
              <a:t>Krushi</a:t>
            </a: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 Darshani </a:t>
            </a:r>
          </a:p>
          <a:p>
            <a:pPr marL="546100" algn="just">
              <a:lnSpc>
                <a:spcPct val="150000"/>
              </a:lnSpc>
              <a:spcBef>
                <a:spcPts val="0"/>
              </a:spcBef>
              <a:buSzPct val="100000"/>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MPKV  Calender </a:t>
            </a:r>
          </a:p>
          <a:p>
            <a:pPr marL="546100" algn="just">
              <a:lnSpc>
                <a:spcPct val="150000"/>
              </a:lnSpc>
              <a:spcBef>
                <a:spcPts val="0"/>
              </a:spcBef>
              <a:buSzPct val="100000"/>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ICAR Websites</a:t>
            </a:r>
          </a:p>
          <a:p>
            <a:pPr marL="546100" algn="just">
              <a:lnSpc>
                <a:spcPct val="150000"/>
              </a:lnSpc>
              <a:spcBef>
                <a:spcPts val="0"/>
              </a:spcBef>
              <a:buSzPct val="100000"/>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Central Institute of Agriculture Engineering</a:t>
            </a:r>
          </a:p>
        </p:txBody>
      </p:sp>
      <p:sp>
        <p:nvSpPr>
          <p:cNvPr id="199" name="Google Shape;199;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200" name="Google Shape;200;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201" name="Google Shape;201;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Google Shape;197;p24"/>
          <p:cNvSpPr txBox="1">
            <a:spLocks noGrp="1"/>
          </p:cNvSpPr>
          <p:nvPr>
            <p:ph type="title"/>
          </p:nvPr>
        </p:nvSpPr>
        <p:spPr>
          <a:xfrm>
            <a:off x="457200" y="274638"/>
            <a:ext cx="8229600" cy="6397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8. References and Bibliography</a:t>
            </a:r>
          </a:p>
        </p:txBody>
      </p:sp>
      <p:sp>
        <p:nvSpPr>
          <p:cNvPr id="198" name="Google Shape;198;p24"/>
          <p:cNvSpPr txBox="1">
            <a:spLocks noGrp="1"/>
          </p:cNvSpPr>
          <p:nvPr>
            <p:ph type="body" idx="1"/>
          </p:nvPr>
        </p:nvSpPr>
        <p:spPr>
          <a:xfrm>
            <a:off x="457200" y="9906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lnSpcReduction="10000"/>
          </a:bodyPr>
          <a:lstStyle/>
          <a:p>
            <a:pPr marL="342900" lvl="0" indent="-139700" algn="l" rtl="0">
              <a:lnSpc>
                <a:spcPct val="150000"/>
              </a:lnSpc>
              <a:spcBef>
                <a:spcPts val="0"/>
              </a:spcBef>
              <a:spcAft>
                <a:spcPts val="0"/>
              </a:spcAft>
              <a:buClr>
                <a:schemeClr val="dk1"/>
              </a:buClr>
              <a:buSzPts val="2960"/>
              <a:buNone/>
            </a:pPr>
            <a:r>
              <a:rPr lang="en-IN" sz="25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8.1 </a:t>
            </a:r>
            <a:r>
              <a:rPr lang="en-US" sz="2500" b="1" dirty="0">
                <a:latin typeface="Times New Roman" panose="02020603050405020304" pitchFamily="18" charset="0"/>
                <a:cs typeface="Times New Roman" panose="02020603050405020304" pitchFamily="18" charset="0"/>
                <a:sym typeface="+mn-ea"/>
              </a:rPr>
              <a:t>Bibliography</a:t>
            </a:r>
            <a:r>
              <a:rPr lang="en-IN" altLang="en-US" sz="2500" b="1" dirty="0">
                <a:latin typeface="Times New Roman" panose="02020603050405020304" pitchFamily="18" charset="0"/>
                <a:cs typeface="Times New Roman" panose="02020603050405020304" pitchFamily="18" charset="0"/>
                <a:sym typeface="+mn-ea"/>
              </a:rPr>
              <a:t>:-</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pitchFamily="18" charset="0"/>
                <a:ea typeface="Times New Roman" panose="02020603050405020304"/>
                <a:cs typeface="Times New Roman" panose="02020603050405020304" pitchFamily="18" charset="0"/>
                <a:sym typeface="+mn-ea"/>
              </a:rPr>
              <a:t>Books:</a:t>
            </a:r>
          </a:p>
          <a:p>
            <a:pPr marL="1117600" lvl="1" indent="-457200" algn="just" rtl="0">
              <a:lnSpc>
                <a:spcPct val="150000"/>
              </a:lnSpc>
              <a:spcBef>
                <a:spcPts val="0"/>
              </a:spcBef>
              <a:spcAft>
                <a:spcPts val="0"/>
              </a:spcAft>
              <a:buClr>
                <a:schemeClr val="dk1"/>
              </a:buClr>
              <a:buSzPct val="1000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Software Engineering by Roger Pressman  </a:t>
            </a:r>
          </a:p>
          <a:p>
            <a:pPr marL="1117600" lvl="1" indent="-457200" algn="just" rtl="0">
              <a:lnSpc>
                <a:spcPct val="150000"/>
              </a:lnSpc>
              <a:spcBef>
                <a:spcPts val="0"/>
              </a:spcBef>
              <a:spcAft>
                <a:spcPts val="0"/>
              </a:spcAft>
              <a:buClr>
                <a:schemeClr val="dk1"/>
              </a:buClr>
              <a:buSzPct val="1000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Android Programming by Bill Phillips  </a:t>
            </a:r>
          </a:p>
          <a:p>
            <a:pPr marL="1117600" lvl="1" indent="-457200" algn="just" rtl="0">
              <a:lnSpc>
                <a:spcPct val="150000"/>
              </a:lnSpc>
              <a:spcBef>
                <a:spcPts val="0"/>
              </a:spcBef>
              <a:spcAft>
                <a:spcPts val="0"/>
              </a:spcAft>
              <a:buClr>
                <a:schemeClr val="dk1"/>
              </a:buClr>
              <a:buSzPct val="1000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Firebase Essentials by Neil Smyth  </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pitchFamily="18" charset="0"/>
                <a:ea typeface="Times New Roman" panose="02020603050405020304"/>
                <a:cs typeface="Times New Roman" panose="02020603050405020304" pitchFamily="18" charset="0"/>
                <a:sym typeface="+mn-ea"/>
              </a:rPr>
              <a:t>Research Papers:</a:t>
            </a:r>
          </a:p>
          <a:p>
            <a:pPr marL="203200" lvl="0" indent="457200" algn="just" rtl="0">
              <a:lnSpc>
                <a:spcPct val="150000"/>
              </a:lnSpc>
              <a:spcBef>
                <a:spcPts val="0"/>
              </a:spcBef>
              <a:spcAft>
                <a:spcPts val="0"/>
              </a:spcAft>
              <a:buClr>
                <a:schemeClr val="dk1"/>
              </a:buClr>
              <a:buSzPct val="1000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"Mobile Application for Crop Advisory" (2022)  </a:t>
            </a:r>
          </a:p>
          <a:p>
            <a:pPr marL="203200" lvl="0" indent="457200" algn="just" rtl="0">
              <a:lnSpc>
                <a:spcPct val="150000"/>
              </a:lnSpc>
              <a:spcBef>
                <a:spcPts val="0"/>
              </a:spcBef>
              <a:spcAft>
                <a:spcPts val="0"/>
              </a:spcAft>
              <a:buClr>
                <a:schemeClr val="dk1"/>
              </a:buClr>
              <a:buSzPct val="1000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"Offline Agricultural Advisory System" by R.V. Patil  </a:t>
            </a:r>
          </a:p>
          <a:p>
            <a:pPr marL="546100" lvl="0" algn="just" rtl="0">
              <a:lnSpc>
                <a:spcPct val="150000"/>
              </a:lnSpc>
              <a:spcBef>
                <a:spcPts val="0"/>
              </a:spcBef>
              <a:spcAft>
                <a:spcPts val="0"/>
              </a:spcAft>
              <a:buClr>
                <a:schemeClr val="dk1"/>
              </a:buClr>
              <a:buSzPct val="100000"/>
            </a:pPr>
            <a:r>
              <a:rPr lang="en-US" altLang="en-US" sz="2000" b="1" dirty="0">
                <a:latin typeface="Times New Roman" panose="02020603050405020304" pitchFamily="18" charset="0"/>
                <a:ea typeface="Times New Roman" panose="02020603050405020304"/>
                <a:cs typeface="Times New Roman" panose="02020603050405020304" pitchFamily="18" charset="0"/>
                <a:sym typeface="+mn-ea"/>
              </a:rPr>
              <a:t>Websites:</a:t>
            </a:r>
          </a:p>
          <a:p>
            <a:pPr marL="203200" lvl="0" indent="457200" algn="just" rtl="0">
              <a:lnSpc>
                <a:spcPct val="150000"/>
              </a:lnSpc>
              <a:spcBef>
                <a:spcPts val="0"/>
              </a:spcBef>
              <a:spcAft>
                <a:spcPts val="0"/>
              </a:spcAft>
              <a:buClr>
                <a:schemeClr val="dk1"/>
              </a:buClr>
              <a:buSzPct val="1000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Android Developer Docs  </a:t>
            </a:r>
          </a:p>
          <a:p>
            <a:pPr marL="203200" lvl="0" indent="457200" algn="just" rtl="0">
              <a:lnSpc>
                <a:spcPct val="150000"/>
              </a:lnSpc>
              <a:spcBef>
                <a:spcPts val="0"/>
              </a:spcBef>
              <a:spcAft>
                <a:spcPts val="0"/>
              </a:spcAft>
              <a:buClr>
                <a:schemeClr val="dk1"/>
              </a:buClr>
              <a:buSzPct val="1000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Firebase Google Docs  </a:t>
            </a:r>
          </a:p>
          <a:p>
            <a:pPr marL="203200" lvl="0" indent="457200" algn="just" rtl="0">
              <a:lnSpc>
                <a:spcPct val="150000"/>
              </a:lnSpc>
              <a:spcBef>
                <a:spcPts val="0"/>
              </a:spcBef>
              <a:spcAft>
                <a:spcPts val="0"/>
              </a:spcAft>
              <a:buClr>
                <a:schemeClr val="dk1"/>
              </a:buClr>
              <a:buSzPct val="1000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mn-ea"/>
              </a:rPr>
              <a:t>ICAR Crop Guidelines</a:t>
            </a:r>
          </a:p>
        </p:txBody>
      </p:sp>
      <p:sp>
        <p:nvSpPr>
          <p:cNvPr id="199" name="Google Shape;199;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3/3/2026</a:t>
            </a:r>
          </a:p>
        </p:txBody>
      </p:sp>
      <p:sp>
        <p:nvSpPr>
          <p:cNvPr id="200" name="Google Shape;200;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CPE – 22060 Presentation</a:t>
            </a:r>
          </a:p>
        </p:txBody>
      </p:sp>
      <p:sp>
        <p:nvSpPr>
          <p:cNvPr id="201" name="Google Shape;201;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545465"/>
            <a:ext cx="8229600" cy="5779135"/>
          </a:xfrm>
        </p:spPr>
        <p:txBody>
          <a:bodyPr/>
          <a:lstStyle/>
          <a:p>
            <a:pPr marL="114300" indent="0">
              <a:buNone/>
            </a:pPr>
            <a:endParaRPr lang="en-IN" altLang="en-US" sz="5000" b="1">
              <a:latin typeface="Times New Roman" panose="02020603050405020304" pitchFamily="18" charset="0"/>
              <a:cs typeface="Times New Roman" panose="02020603050405020304" pitchFamily="18" charset="0"/>
            </a:endParaRPr>
          </a:p>
          <a:p>
            <a:pPr marL="114300" indent="0">
              <a:buNone/>
            </a:pPr>
            <a:endParaRPr lang="en-IN" altLang="en-US" sz="5000" b="1">
              <a:latin typeface="Times New Roman" panose="02020603050405020304" pitchFamily="18" charset="0"/>
              <a:cs typeface="Times New Roman" panose="02020603050405020304" pitchFamily="18" charset="0"/>
            </a:endParaRPr>
          </a:p>
          <a:p>
            <a:pPr marL="114300" indent="0">
              <a:buNone/>
            </a:pPr>
            <a:endParaRPr lang="en-IN" altLang="en-US" sz="5000" b="1">
              <a:latin typeface="Times New Roman" panose="02020603050405020304" pitchFamily="18" charset="0"/>
              <a:cs typeface="Times New Roman" panose="02020603050405020304" pitchFamily="18" charset="0"/>
            </a:endParaRPr>
          </a:p>
          <a:p>
            <a:pPr marL="114300" indent="0" algn="ctr">
              <a:buNone/>
            </a:pPr>
            <a:r>
              <a:rPr lang="en-IN" altLang="en-US" sz="5000" b="1">
                <a:latin typeface="Times New Roman" panose="02020603050405020304" pitchFamily="18" charset="0"/>
                <a:cs typeface="Times New Roman" panose="02020603050405020304" pitchFamily="18" charset="0"/>
              </a:rPr>
              <a:t>Thank You</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1129</Words>
  <Application>Microsoft Office PowerPoint</Application>
  <PresentationFormat>On-screen Show (4:3)</PresentationFormat>
  <Paragraphs>270</Paragraphs>
  <Slides>20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PowerPoint Presentation</vt:lpstr>
      <vt:lpstr>Abstract</vt:lpstr>
      <vt:lpstr>Content</vt:lpstr>
      <vt:lpstr>1. Introduction</vt:lpstr>
      <vt:lpstr>2. Literature Review</vt:lpstr>
      <vt:lpstr>2. Literature Review</vt:lpstr>
      <vt:lpstr>2. Literature Review</vt:lpstr>
      <vt:lpstr>3. Scope of the project</vt:lpstr>
      <vt:lpstr>4. Methodology</vt:lpstr>
      <vt:lpstr>4. Methodology</vt:lpstr>
      <vt:lpstr>5. Details of designs, working &amp; processes</vt:lpstr>
      <vt:lpstr>5. Details of designs, working &amp; processes</vt:lpstr>
      <vt:lpstr>6. Results and Applications</vt:lpstr>
      <vt:lpstr>6. Results and Applications</vt:lpstr>
      <vt:lpstr>6. Results and Applications</vt:lpstr>
      <vt:lpstr>7. Conclusion and future scope</vt:lpstr>
      <vt:lpstr>7. Conclusion and future scope</vt:lpstr>
      <vt:lpstr>8. References and Bibliography</vt:lpstr>
      <vt:lpstr>8. References and Bibliography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Khrish Patil</dc:creator>
  <cp:lastModifiedBy>Khrish Patil</cp:lastModifiedBy>
  <cp:revision>32</cp:revision>
  <dcterms:created xsi:type="dcterms:W3CDTF">2026-04-15T19:19:52Z</dcterms:created>
  <dcterms:modified xsi:type="dcterms:W3CDTF">2026-04-16T08:58:12Z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7F85A40265364FDEB788F5029A56A79B_13</vt:lpwstr>
  </property>
  <property fmtid="{D5CDD505-2E9C-101B-9397-08002B2CF9AE}" pid="3" name="KSOProductBuildVer">
    <vt:lpwstr>1033-12.2.0.23196</vt:lpwstr>
  </property>
</Properties>
</file>